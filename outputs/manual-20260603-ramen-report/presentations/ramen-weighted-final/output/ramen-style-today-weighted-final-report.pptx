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86c7d7ee545d8" /><Relationship Type="http://schemas.openxmlformats.org/officeDocument/2006/relationships/extended-properties" Target="/docProps/app.xml" Id="R8bce6b9ca1e04619" /><Relationship Type="http://schemas.openxmlformats.org/officeDocument/2006/relationships/officeDocument" Target="/ppt/presentation.xml" Id="R6f12ff45928b43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5143b618c451b"/>
  </p:sldMasterIdLst>
  <p:notesMasterIdLst>
    <p:notesMasterId xmlns:r="http://schemas.openxmlformats.org/officeDocument/2006/relationships" r:id="R2642379d3b144899"/>
  </p:notesMasterIdLst>
  <p:sldIdLst>
    <p:sldId xmlns:r="http://schemas.openxmlformats.org/officeDocument/2006/relationships" id="256" r:id="R70106faffd7f4871"/>
    <p:sldId xmlns:r="http://schemas.openxmlformats.org/officeDocument/2006/relationships" id="257" r:id="R6196985dda944324"/>
    <p:sldId xmlns:r="http://schemas.openxmlformats.org/officeDocument/2006/relationships" id="258" r:id="R9aea5ed06008431a"/>
    <p:sldId xmlns:r="http://schemas.openxmlformats.org/officeDocument/2006/relationships" id="259" r:id="Rcee5efab6e644fed"/>
    <p:sldId xmlns:r="http://schemas.openxmlformats.org/officeDocument/2006/relationships" id="260" r:id="R84fb810d902a4359"/>
    <p:sldId xmlns:r="http://schemas.openxmlformats.org/officeDocument/2006/relationships" id="261" r:id="R6f019042a0cf439e"/>
    <p:sldId xmlns:r="http://schemas.openxmlformats.org/officeDocument/2006/relationships" id="262" r:id="Rdb91eec5689d4f12"/>
    <p:sldId xmlns:r="http://schemas.openxmlformats.org/officeDocument/2006/relationships" id="263" r:id="R5e8490997a0e4c4d"/>
    <p:sldId xmlns:r="http://schemas.openxmlformats.org/officeDocument/2006/relationships" id="264" r:id="Rc8ffd1295773488f"/>
    <p:sldId xmlns:r="http://schemas.openxmlformats.org/officeDocument/2006/relationships" id="265" r:id="R82432c9ea99c4c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09ea979c34f64" /><Relationship Type="http://schemas.openxmlformats.org/officeDocument/2006/relationships/slideMaster" Target="/ppt/slideMasters/slideMaster1.xml" Id="R30b5143b618c451b" /><Relationship Type="http://schemas.openxmlformats.org/officeDocument/2006/relationships/notesMaster" Target="/ppt/notesMasters/notesMaster1.xml" Id="R2642379d3b144899" /><Relationship Type="http://schemas.openxmlformats.org/officeDocument/2006/relationships/presProps" Target="/ppt/presProps.xml" Id="R6bae814357c04fc9" /><Relationship Type="http://schemas.openxmlformats.org/officeDocument/2006/relationships/viewProps" Target="/ppt/viewProps.xml" Id="R9377ce25540c4497" /><Relationship Type="http://schemas.openxmlformats.org/officeDocument/2006/relationships/tableStyles" Target="/ppt/tableStyles.xml" Id="Reb2fa9ec8139483e" /><Relationship Type="http://schemas.openxmlformats.org/officeDocument/2006/relationships/slide" Target="/ppt/slides/slide1.xml" Id="R70106faffd7f4871" /><Relationship Type="http://schemas.openxmlformats.org/officeDocument/2006/relationships/slide" Target="/ppt/slides/slide2.xml" Id="R6196985dda944324" /><Relationship Type="http://schemas.openxmlformats.org/officeDocument/2006/relationships/slide" Target="/ppt/slides/slide3.xml" Id="R9aea5ed06008431a" /><Relationship Type="http://schemas.openxmlformats.org/officeDocument/2006/relationships/slide" Target="/ppt/slides/slide4.xml" Id="Rcee5efab6e644fed" /><Relationship Type="http://schemas.openxmlformats.org/officeDocument/2006/relationships/slide" Target="/ppt/slides/slide5.xml" Id="R84fb810d902a4359" /><Relationship Type="http://schemas.openxmlformats.org/officeDocument/2006/relationships/slide" Target="/ppt/slides/slide6.xml" Id="R6f019042a0cf439e" /><Relationship Type="http://schemas.openxmlformats.org/officeDocument/2006/relationships/slide" Target="/ppt/slides/slide7.xml" Id="Rdb91eec5689d4f12" /><Relationship Type="http://schemas.openxmlformats.org/officeDocument/2006/relationships/slide" Target="/ppt/slides/slide8.xml" Id="R5e8490997a0e4c4d" /><Relationship Type="http://schemas.openxmlformats.org/officeDocument/2006/relationships/slide" Target="/ppt/slides/slide9.xml" Id="Rc8ffd1295773488f" /><Relationship Type="http://schemas.openxmlformats.org/officeDocument/2006/relationships/slide" Target="/ppt/slides/slide10.xml" Id="R82432c9ea99c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4ccd9edf8d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01ce88f1e431b" /><Relationship Type="http://schemas.openxmlformats.org/officeDocument/2006/relationships/notesMaster" Target="/ppt/notesMasters/notesMaster1.xml" Id="R84d7eabdef2b46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692d2a3a2476e" /><Relationship Type="http://schemas.openxmlformats.org/officeDocument/2006/relationships/notesMaster" Target="/ppt/notesMasters/notesMaster1.xml" Id="R282ab283656a44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7679ce8b445ec" /><Relationship Type="http://schemas.openxmlformats.org/officeDocument/2006/relationships/notesMaster" Target="/ppt/notesMasters/notesMaster1.xml" Id="R4a718070cd7442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d9faa0489b4bf7" /><Relationship Type="http://schemas.openxmlformats.org/officeDocument/2006/relationships/notesMaster" Target="/ppt/notesMasters/notesMaster1.xml" Id="R284c5d2395ad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62f5ab554c4ab8" /><Relationship Type="http://schemas.openxmlformats.org/officeDocument/2006/relationships/notesMaster" Target="/ppt/notesMasters/notesMaster1.xml" Id="R601ed35366a840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15f78dbc764480" /><Relationship Type="http://schemas.openxmlformats.org/officeDocument/2006/relationships/notesMaster" Target="/ppt/notesMasters/notesMaster1.xml" Id="Raa79658c071247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3bf4ae2bfc416c" /><Relationship Type="http://schemas.openxmlformats.org/officeDocument/2006/relationships/notesMaster" Target="/ppt/notesMasters/notesMaster1.xml" Id="R5c91f470cb994b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d968353fc34737" /><Relationship Type="http://schemas.openxmlformats.org/officeDocument/2006/relationships/notesMaster" Target="/ppt/notesMasters/notesMaster1.xml" Id="R72f1944c452947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9c04b2d9974839" /><Relationship Type="http://schemas.openxmlformats.org/officeDocument/2006/relationships/notesMaster" Target="/ppt/notesMasters/notesMaster1.xml" Id="R4ba37814f5994c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31e5082c5242e3" /><Relationship Type="http://schemas.openxmlformats.org/officeDocument/2006/relationships/notesMaster" Target="/ppt/notesMasters/notesMaster1.xml" Id="Radca83544ce7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905ab3127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590a8fc6447f0" /><Relationship Type="http://schemas.openxmlformats.org/officeDocument/2006/relationships/slideLayout" Target="/ppt/slideLayouts/slideLayout1.xml" Id="Rcf8fd24ff7e6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fd24ff7e6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a694c91aa442e" /><Relationship Type="http://schemas.openxmlformats.org/officeDocument/2006/relationships/image" Target="/ppt/media/image.png" Id="R80c4d1e5b4224232" /><Relationship Type="http://schemas.openxmlformats.org/officeDocument/2006/relationships/notesSlide" Target="/ppt/notesSlides/notesSlide1.xml" Id="R5b44c5794dd7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9f74780248e2" /><Relationship Type="http://schemas.openxmlformats.org/officeDocument/2006/relationships/image" Target="/ppt/media/image2.png" Id="Rf394ed14953f4097" /><Relationship Type="http://schemas.openxmlformats.org/officeDocument/2006/relationships/notesSlide" Target="/ppt/notesSlides/notesSlide2.xml" Id="R001a8c39ce9741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230646f4f45ec" /><Relationship Type="http://schemas.openxmlformats.org/officeDocument/2006/relationships/notesSlide" Target="/ppt/notesSlides/notesSlide3.xml" Id="R6d6c1de8abf2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631be4cf24ed6" /><Relationship Type="http://schemas.openxmlformats.org/officeDocument/2006/relationships/notesSlide" Target="/ppt/notesSlides/notesSlide4.xml" Id="R83b9887049e2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c7978a1d4ec3" /><Relationship Type="http://schemas.openxmlformats.org/officeDocument/2006/relationships/notesSlide" Target="/ppt/notesSlides/notesSlide5.xml" Id="Rbfe8362b486b4d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9bbe4853f422d" /><Relationship Type="http://schemas.openxmlformats.org/officeDocument/2006/relationships/notesSlide" Target="/ppt/notesSlides/notesSlide6.xml" Id="Rd4f257c358d440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9289f95f4458" /><Relationship Type="http://schemas.openxmlformats.org/officeDocument/2006/relationships/image" Target="/ppt/media/image3.png" Id="Rbaf3a6bf057a40ac" /><Relationship Type="http://schemas.openxmlformats.org/officeDocument/2006/relationships/notesSlide" Target="/ppt/notesSlides/notesSlide7.xml" Id="Rcfab1cfa8feb40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080f2f1334665" /><Relationship Type="http://schemas.openxmlformats.org/officeDocument/2006/relationships/notesSlide" Target="/ppt/notesSlides/notesSlide8.xml" Id="Rbb6af69c894c48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56589cfda4470" /><Relationship Type="http://schemas.openxmlformats.org/officeDocument/2006/relationships/notesSlide" Target="/ppt/notesSlides/notesSlide9.xml" Id="R24c26b3dc73a42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6c066b35d43d1" /><Relationship Type="http://schemas.openxmlformats.org/officeDocument/2006/relationships/notesSlide" Target="/ppt/notesSlides/notesSlide10.xml" Id="R7a6f351eac8545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18CDD-B340-42A6-84D5-1A302C8D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4C815-3834-4842-BA60-1F7AA5B5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45BFA-40CE-4278-8013-82DC5DF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期末報告 · 評分比例版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D77C0-4FE2-47C9-A3C6-F1B5564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EB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EB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6C76-A3F1-4E3D-8065-2B35A16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81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rPr>
              <a:t>Ramen Style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02581-F90B-4ECF-A012-16F3A0B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用公平分類和可分析數據，讓使用者找到今天適合的一碗，也讓商家看懂市場偏好。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4d1e5b4224232"/>
          <a:srcRect xmlns:a="http://schemas.openxmlformats.org/drawingml/2006/main" l="29408" t="0" r="294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628650"/>
            <a:ext cx="3905250" cy="533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3A99C-B053-4011-AB1E-3EA61BD0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"/>
            <a:ext cx="85725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F2506-E2EF-4A4F-8B9E-D3A128D4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770CB-46A1-4F1D-BA19-4E934F7F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介紹拉麵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F871C-DBE3-47F9-813E-51A129E9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rPr>
              <a:t>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F740F-9443-480C-B4C4-788938B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71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公正分類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09CA1-1E79-49A2-A5F2-702D873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D8C4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E8D8C4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F493F-7BC9-448A-A49C-8ECB92AB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結果使用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F5D93-FCC5-48C3-8AA6-E7811C09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22BCC-2D1A-49F9-B291-4B45496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商家數據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958F7-3BEB-4D5C-8FC0-7EF2EB7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578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F3B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7E1B6-9498-4F7B-A11C-CC6BFC9A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10 分鐘建議節奏：3 分鐘 + 3 分鐘 + 2 分鐘 + 2 分鐘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39B10-4720-435F-8E7C-8DC497C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8A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8A5"/>
                </a:solidFill>
                <a:latin typeface="Aptos"/>
                <a:ea typeface="Aptos"/>
                <a:cs typeface="Aptos"/>
              </a:rPr>
              <a:t>來源：README.md、docs/spec.md、現行本機 App 截圖</a:t>
            </a:r>
          </a:p>
        </p:txBody>
      </p:sp>
    </p:spTree>
    <p:extLst>
      <p:ext uri="{BB962C8B-B14F-4D97-AF65-F5344CB8AC3E}">
        <p14:creationId xmlns:p14="http://schemas.microsoft.com/office/powerpoint/2010/main" val="7393627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F7481-BA36-4B6C-9D26-25D23772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A09DF-9ED2-4A2F-9290-36E06F8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5F781-D14E-42A4-8F92-BFA5D89A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1. 介紹拉麵 · 30%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B9C27-FDDD-48B3-821C-5DC7E380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FCDA-3137-46EE-93FE-7DD10307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拉麵不是只有湯和麵，而是一套可拆解的風味系統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7A9D-7786-471D-97C7-D8B37802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要讓一般使用者理解推薦邏輯，先把一碗拉麵拆成幾個容易回答的部分。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4ed14953f4097"/>
          <a:stretch xmlns:a="http://schemas.openxmlformats.org/drawingml/2006/main"/>
        </p:blipFill>
        <p:spPr>
          <a:xfrm xmlns:a="http://schemas.openxmlformats.org/drawingml/2006/main">
            <a:off x="8172450" y="1475570"/>
            <a:ext cx="2571750" cy="27067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25A7B-3404-4E18-990B-456ABCFB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A9EB9-2213-4885-B3CC-6CCE1C90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15401-2891-473D-87B7-075379B3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湯底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A85CD-27B2-4444-A069-713409C6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清湯、白湯、魚介、豚骨、雞、鴨、貝類等，決定整碗的主體。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132D4-DA63-4136-AA0A-B53A92B4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9B794-56CB-4284-8024-BEC911D8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DA7F2-48B3-4CCD-8B06-6C7BB5F5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調味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533C0-7ECC-44EC-999D-77A4F51B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醬油、鹽味、味噌、辣麻或不強調調味，影響第一口的辨識。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E8920-4AE1-4D4F-B213-73012A8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7C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C1D95-7B64-40BD-BA8B-5FDEE922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C92E7-9990-4CCC-9082-B024DB88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麵體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039B3-DE7F-4D05-92E6-A59608F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細直、中細、中粗、捲麵、極粗，會影響口感和掛湯能力。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81591-1B5C-4974-AEBE-AAE84F31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579A3-66A4-4A34-B23C-038C213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C2FD1-0B59-468B-ABAD-3EB946B8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標誌元素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C3DF6-8BF9-4468-8B71-E6C6B13B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815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海苔菠菜、玉米奶油、豆芽蒜背脂、柚子等，幫助辨識特定流派。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DE2CB-25DA-45EE-A4CB-3CA3C1A9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4C3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12602-F789-4B4F-946C-DB21233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報告說法：我們不是問使用者懂不懂拉麵，而是把專業分類翻成日常問題。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13F91-F890-4338-AE5B-1BB1AD59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對應問卷：Q3 調味、Q4 主出汁、Q5 濃淡、Q6 麵體、Q7 標誌元素。</a:t>
            </a:r>
          </a:p>
        </p:txBody>
      </p:sp>
    </p:spTree>
    <p:extLst>
      <p:ext uri="{BB962C8B-B14F-4D97-AF65-F5344CB8AC3E}">
        <p14:creationId xmlns:p14="http://schemas.microsoft.com/office/powerpoint/2010/main" val="931674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91080-DD6D-41A4-85B9-2CD7893C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C6DE7-DFA1-47A4-ABB2-5201D4E8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7AC43-AC96-48E5-BDAD-066876D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1. 介紹拉麵 · 30%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77384-AE53-4FAD-BC6F-2A4EBD8B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3339A-8EED-4AEE-965B-F6D2FE9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使用者真正困難的是：名稱很多，但不知道哪一種符合今天胃口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AFAC-B813-43DC-8554-26A250B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所以 MVP 先把拉麵分成 18 個前台風格，再用更細的內部分類支撐推薦。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463DB-0C04-478D-83CC-A700303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094CB-59D2-4377-A4F7-4AF3B709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89286-1660-4281-BF03-F1AAE149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形式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23883-D609-4594-BB39-03F46375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湯拉麵 / 沾麵 / 乾拌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DC882-6AD7-4D8E-8773-C89082BE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5D543-99EF-4537-A6CB-199D5EC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95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E3440-8620-475E-AEEA-AFCC7DE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A8213-18B1-4ECE-8DB4-2E7574B4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D7AB-9D23-4A90-88CC-D531501C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18 個前台風格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BFF80-7718-47D6-9084-B1B2236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281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醬油清湯、豚骨、雞白湯、家系、二郎、博多、昆布水沾麵、油そば等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F2AAF-28BF-4379-B406-BF355AC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71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C1B25-484E-43D2-AD83-25C3863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C645C-D84A-458F-9C75-274786B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47CD7-E2E2-4796-A208-8A6B8E5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234C7-A88F-4CC8-B47C-4909FC38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54 個核心型別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CBFAA-8BA0-4482-8144-67DAA837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每個風格再分清爽 / 標準 / 重口，讓結果不只停在名稱。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252C5-AE06-4F33-81EC-CAAA255C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rPr>
              <a:t>270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291DC-A446-449A-ACE2-F93431F0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內部麵型變體：54 ×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872BE-C3CF-4C47-AB94-AAE8568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rPr>
              <a:t>Top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2EEEC-6364-464A-B63C-DB9C8C2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前台只顯示最有用的結果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74CEDC-C691-40D2-968C-15C3A6F7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00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rPr>
              <a:t>可解釋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9BCFA-2CF0-4C51-8162-482F852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5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每個推薦都能回看命中理由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D8AFA6-D67F-4AF8-B875-A13EDDBD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Implemented Display Styles / Core Hierarchy。</a:t>
            </a:r>
          </a:p>
        </p:txBody>
      </p:sp>
    </p:spTree>
    <p:extLst>
      <p:ext uri="{BB962C8B-B14F-4D97-AF65-F5344CB8AC3E}">
        <p14:creationId xmlns:p14="http://schemas.microsoft.com/office/powerpoint/2010/main" val="10927490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D8699-6B4B-4152-956F-03286F8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64972-4C1F-4E3E-90BC-DCD2AA14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1282-C501-4C76-ACF4-07E16AF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5F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35F32"/>
                </a:solidFill>
                <a:latin typeface="Aptos"/>
                <a:ea typeface="Aptos"/>
                <a:cs typeface="Aptos"/>
              </a:rPr>
              <a:t>2. 我們如何公正地分類 · 30%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1A64-EC70-4536-9B25-F5DCC277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56B40-51C1-4C84-8DEA-4D4C657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公正分類的第一步：把使用者偏好、安全排除、商家資料分開處理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9C64-05C7-4726-9B7A-1C44C35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分類結果先由口味規則決定，店家和品項只在後面掛接，不反過來影響分數。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B3609-2065-43B4-9B3B-5A4C3084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1077C-8F1E-4853-99C7-C8D6B296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25AC7-47BF-46C9-9B72-52B5A75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使用者偏好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1276B-33EE-4605-B7F2-282F684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形式、輪廓、調味、主出汁、濃淡、麵體、標誌元素。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09FEA-FEE2-4F07-81E4-9C7DE2E6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D9553-0F92-4AD0-9E7D-EEEEE682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196E2-F2B7-43A4-A706-1DE803C8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9B3FD-46D2-4BC8-ABB8-699D6507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2555C-119C-4323-9BDB-9C553D20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公平計分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B535C-5501-49DC-842A-E825AC2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依題目權重和命中程度計分，再加上衝突規則避免亂推。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762C1-9B3E-4966-BC6D-BC6257E2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146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195E3-3C64-43D1-8911-4CF0751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17F77-6C11-444C-9A7D-78D2B74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7C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F91B5-FF21-4AF0-9170-692E394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76A86-3A3D-4524-A600-05E3EAE1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Top 3 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47165-9EC8-4F00-8051-88819904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15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只顯示風格、分數、理由與可回看的依據。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E077A-8ED5-4A0B-BA6F-1F1F9204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E5B5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95A61-73F2-4ED9-A79D-511CBEA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A2D54-5D16-405E-992F-FD31718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86275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Q8 硬性排除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D552E-D6D8-4A8D-9D62-D28D2275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過敏或不吃的食材只負責阻擋，不參與加權加分。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891AA-3A0E-4F5B-97D2-A97701FF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F03317-E0DC-4758-A20A-1C728EB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F127D-859C-4C66-9348-DA51F7CC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Catalog 後掛接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1CF94-A571-45A7-848F-513F5FEF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2724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店家/品項推薦只做 enrichment，不控制風格分類。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2D1FC-E065-4369-A8AE-B905FECF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578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7B20C3-04BC-49C8-8E3D-6E3061DA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34050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一句話：先公正分類，再做推薦展示；商家資料不應該買到分類結果。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CD07C-D4A1-4963-8D3F-E7DB1A5E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Frozen Decisions 4 / 6。</a:t>
            </a:r>
          </a:p>
        </p:txBody>
      </p:sp>
    </p:spTree>
    <p:extLst>
      <p:ext uri="{BB962C8B-B14F-4D97-AF65-F5344CB8AC3E}">
        <p14:creationId xmlns:p14="http://schemas.microsoft.com/office/powerpoint/2010/main" val="1677571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DAA10-80F2-4BFB-BA24-FC70A83E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7736F-4596-4F65-9E7A-1EADDF1D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D4816-9D22-485C-8149-DFF17ECA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5F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35F32"/>
                </a:solidFill>
                <a:latin typeface="Aptos"/>
                <a:ea typeface="Aptos"/>
                <a:cs typeface="Aptos"/>
              </a:rPr>
              <a:t>2. 我們如何公正地分類 · 30%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E29E5-62AD-4EB8-99A6-10EAF42B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B87D7-A089-4ACF-943D-40B48912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不是每題平均投票，而是依照辨識力設定權重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E6544-6958-435E-A482-8DF6E80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越能決定風格的問題權重越高；不能吃的食材則用硬過濾處理。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CB9B-F9FE-408A-AC3E-9513818C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Q1 形式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5D610-76A5-427F-BF9B-FA0A3C1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241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67AC4-5FBE-44E1-B306-9821FBF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24100"/>
            <a:ext cx="3638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5B487-68A6-4DCC-A127-4BC49679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5742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35F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35F3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FAF8A-893B-4340-B62D-1C0DCBBB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Q2 輪廓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CC414-29CC-42C4-90FA-071A1136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7B34-EBA6-49A8-9DB1-20253C5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3638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111AA-AFEA-44C0-8073-806758D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35F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35F3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58EF0-1940-4FD7-BD25-5D2D72F8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Q3 調味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00219-3CB6-4684-B51C-A7EA6B2A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CA9EE-011D-4B45-BDA9-4770EE7B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3409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7A9BD-9665-4AE2-A263-38D158E1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5752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70A75-5E97-4E4D-AE1A-4C7B79C6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Q4 主出汁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8EBF8-6EF2-450D-8413-81BCAEF4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94636-05BC-4E3D-B2C4-8C002083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13083-231E-4837-8DD8-177185B1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5757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40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402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9FAB2-FD13-424B-9C4E-2602CEF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Q5 濃淡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B62B1-1A61-4DC4-8206-EB3BBC6A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243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CBE85-E27D-459E-B143-AA4C0DB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24300"/>
            <a:ext cx="3181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A554B-844D-418B-B502-19EC6C1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5762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6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D8EB6-89A9-49BE-B9D0-927DBAB2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Q6 麵體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AC2E86-E16D-456E-8A58-A8A3F9A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8625CF-3623-4CEC-B3C8-188A9BB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25050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BB825-DE08-467A-8E6F-257450BD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5767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F1AC7D-2C1D-4517-880F-63042B10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Q7 標誌元素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72FF3-D734-42B8-AB2C-5FD8F8DE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2440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2B4A8-01B8-4ABF-9939-BE23D5C0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24400"/>
            <a:ext cx="22764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9A6E6E-EE25-46C6-ABD6-6E0B46FE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5772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CE822A-04AF-49D1-BE21-6B4AF8B3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Q8 排除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60DCA-4398-4635-AB22-804F8336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4095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E4FA30-5116-40A6-9462-AC270BC0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71510-30EC-4DBB-B3F4-6B8651ED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57775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41AA41-1A2B-4B70-A06E-A52F9146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3333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BA891C-1433-44A3-9EC6-93A166A8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3B769-3838-4F17-B96A-6E902A74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計分公式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648E0A-11F2-450F-805B-C098764B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score = 題目權重 × 命中程度 + 加分 - 扣分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C51A16-37E9-4145-8B9E-7CBFA64D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3333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9501CF-ACE9-43F8-9768-BE26E731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621415-D043-41E7-B0F6-6D2A55B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命中程度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EC636C-CA90-44AA-A96B-0B79D2F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3009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完全符合 1.0</a:t>
            </a:r>
          </a:p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相近 0.6</a:t>
            </a:r>
          </a:p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部分相關 0.4</a:t>
            </a:r>
          </a:p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不相關 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AE7243-5D60-4D0D-95B4-6D5EA410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530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359A4E-2801-493F-9D5D-6AFACC03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530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6E1494-7C57-439B-B65A-2F3E71D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054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報告用說法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0EB531-CEF6-40D6-8D82-21F4627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82930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系統不是要猜使用者最懂哪個名詞，而是看每個回答跟各種拉麵風格有多接近。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F2627D-5807-4084-8342-585152F3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Question Model / Scoring。</a:t>
            </a:r>
          </a:p>
        </p:txBody>
      </p:sp>
    </p:spTree>
    <p:extLst>
      <p:ext uri="{BB962C8B-B14F-4D97-AF65-F5344CB8AC3E}">
        <p14:creationId xmlns:p14="http://schemas.microsoft.com/office/powerpoint/2010/main" val="8884823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FA7FA-AC6B-44A2-85A7-61D7175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1F987-D2C6-4869-9F54-25E318B7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D3991-8726-4EE0-8D50-5F00EF66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5F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35F32"/>
                </a:solidFill>
                <a:latin typeface="Aptos"/>
                <a:ea typeface="Aptos"/>
                <a:cs typeface="Aptos"/>
              </a:rPr>
              <a:t>2. 我們如何公正地分類 · 30%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AE224-4DC8-4DB9-B4D1-05C7C7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69401-E618-4711-B1DD-DD47571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公平不只是公式，也包含避免錯誤推薦的防呆規則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ED15F-3D78-41E9-AB81-6A059B0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MVP 已把幾種高風險情境寫成 conflict rules 和測試，降低分類被單一答案誤導的機率。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C2AE4-996F-4B5A-9B6E-5510145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82B8-015E-4E2E-B837-C1436D2B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9FD96-E4D2-4E26-96D0-089BED1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分支公平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6BB90-2019-4BB2-931B-BE4EA9D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Q1 只決定 Q2 選項，Q3 到 Q8 一律出現，避免某些人少回答關鍵偏好。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A2D8F-618B-4AA5-BB58-AC5162A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E5B5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9070C-D29F-40D9-8517-E161BF4F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55E6E-C934-4EED-ADC8-864A1AF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衝突規則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EFACF-7B7F-4A68-88F0-9C53C8DC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例如二郎遇到柚子訊號會扣分；鴨 / 貝清湯遇到極濃爆量也會扣分。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80D8A-F91A-4F89-A67C-5C9798E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E3DB0-A8C4-4824-8CDD-CC8C9C8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03BE9-DA37-413B-BBF6-56C7AB5D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測試驗證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24819-48B1-40AA-A203-20B293A4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scorer fixtures、taxonomy hierarchy、catalog enrichment、UI 流程都有 Vitest 覆蓋。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E0EA0-6A91-4D93-AAB2-A0586066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52B73-3CE3-45D7-8330-B5056503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Q8 過敏/不吃只阻擋，不拿來塑造偏好。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FD556-DFCD-46E0-976D-9C819FBD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72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0F533-D237-4201-B1E7-7DCCA97C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家系 bonus 需要多題共同成立，不靠單一答案觸發。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381AC-4FF7-404F-BD48-323A575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48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E25D4-E989-4D49-BFA9-D90D9EC2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結果頁保留 breakdown，讓使用者知道每題為什麼加分或降分。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F290A-AEE3-4293-AF68-81A5A0A9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11FBA-F910-4AB1-88E2-DCD0756C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86450"/>
            <a:ext cx="811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這一段的重點：公正分類 = 權重透明 + 排除優先 + 衝突修正 + 測試可回歸。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56F6F-8244-4542-A767-69E46FDA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Implemented Conflict Rules / Implemented Tests。</a:t>
            </a:r>
          </a:p>
        </p:txBody>
      </p:sp>
    </p:spTree>
    <p:extLst>
      <p:ext uri="{BB962C8B-B14F-4D97-AF65-F5344CB8AC3E}">
        <p14:creationId xmlns:p14="http://schemas.microsoft.com/office/powerpoint/2010/main" val="12805274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05BED-C2B2-40A4-AA61-D5C4B961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0F97F-F951-4922-B730-63B6D6FE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49355-763D-4A7E-ADFA-4B6B451F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3. 分類結果如何使用 · 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C5567-C649-4FC6-A9CA-4C1639E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3DAD6-9640-428C-893D-91A6107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90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分類結果不是只有一個答案，而是一組能被解釋和調整的推薦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47CD8-99A1-4F57-95EE-E5A75712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使用者看到 Top 3、信心分數、口味輪廓、推薦店家與每題命中理由。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3a6bf057a40ac"/>
          <a:srcRect xmlns:a="http://schemas.openxmlformats.org/drawingml/2006/main" l="0" t="24707" r="0" b="247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1428750"/>
            <a:ext cx="3619500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A36FE-116C-4277-A930-3ADA59DF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rPr>
              <a:t>Top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581E3-1DE6-4C91-893C-06419595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避免只給單一答案，保留替代選擇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E5A8D-BEEF-4C03-B0AB-B0C4B20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rPr>
              <a:t>89%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96161-4819-4A01-8FA6-7D7D8D3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結果可顯示信心分數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AF6F4-7375-44AB-8685-E3A7ABA2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rPr>
              <a:t>理由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A6DF4-BAD0-4864-98EA-DB0DDA19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每題加分、降分都能回看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C414D-47A1-45FB-B96B-0B9E583B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435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7C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DDC44-5075-4F72-BB6A-2B1F1550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19700"/>
            <a:ext cx="259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結果頁的任務：讓使用者知道「今天先吃什麼」，也知道「為什麼是這一碗」。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D7FF8-F748-48B7-AA61-BCD516D1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來源：本機 App 結果頁截圖；README.md · Current Scope。</a:t>
            </a:r>
          </a:p>
        </p:txBody>
      </p:sp>
    </p:spTree>
    <p:extLst>
      <p:ext uri="{BB962C8B-B14F-4D97-AF65-F5344CB8AC3E}">
        <p14:creationId xmlns:p14="http://schemas.microsoft.com/office/powerpoint/2010/main" val="10906719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2C8A4C-0D1C-4657-AA86-4A0E902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9673F-4A28-4E39-8FDA-A0DEC371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36DCB-4236-4977-84B4-18613C3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3. 分類結果如何使用 · 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BF0F1-2C6B-46DC-B194-6FFFA6DD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37E04-7D7B-4400-AD1B-6558E70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分類結果也能接到真實店家與品項，但這一步不影響分類公平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F38F7-EE45-454B-8E68-8C673F2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目前 catalog 使用官方公開頁面整理的店家與品項，依 style、core type、noodle subtype 三層訊號掛接。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00777-FCA3-4D34-B9E2-A7CF33E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7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7C93B-C4B9-49CB-AA87-737E1D9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41D51-86C8-4332-9789-5F7EE51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Style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7598F-0120-4225-BCD9-A3DC59AC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例如：豚骨、博多、家系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0B63A-D47C-407F-9A0A-68DDF04C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C2D74-AF25-4146-A144-4AB1F1E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2E3A6-175C-4620-966D-83E3DFC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426A5-9BBD-48D2-B145-FCE1F87F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7492D-EAC6-413B-BA3F-1D1B9CF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C3D4D-740F-408C-A865-D3EE5C2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例如：標準 / 重口 / 清爽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F51F4-2540-4260-9FFD-D8F302A2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67E03-D3A7-44CE-B47A-B4D16E67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8626B-1D64-4729-B56B-7820E267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E12B5-25D2-4447-BD1B-1F1C41E0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181FC-A293-40F3-B2BE-A6FEEAE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Noodle Subtype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E16CF-AE8F-4EB9-B949-F10653A8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例如：細直麵、中太麵、極粗麵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F1B7C-ADFE-40B8-9AA5-3DCAF0E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75CB2-DB0B-4E41-BE24-579D6029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D9E13-FE91-45C4-B092-166A144E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527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DBE97-51C6-4FE8-ADA0-E34BA515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527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2C3A84-F2C4-41B5-85BD-4319C3AC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051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40DA4-97C0-417C-8718-44B40545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289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一風堂、麺屋はなび、 とみ田等官方來源資料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7E4BC-319B-4D44-9E8D-77E23A3E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AF51F7-F124-45DB-9720-1CC0379E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91050"/>
            <a:ext cx="830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使用者端：找到店家/品項；商家端：理解哪種風格在什麼回答組合裡被需要。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7DC6CF-1241-44E2-86FA-086E288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959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E5B5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C4FB03-5466-4342-945A-693CC9D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959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D4EBE-B5A0-42B8-B90E-1D75D0FE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48300"/>
            <a:ext cx="634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目前限制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E11239-AAB3-45B8-AF7D-3024B482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72150"/>
            <a:ext cx="6343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V1 還沒有位置排序、營業狀態與完整台灣在地店家覆蓋；這些會是下一階段商業化功能。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03436-3F8F-44D4-A572-7FEC8FD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Catalog Layer / Current Gaps。</a:t>
            </a:r>
          </a:p>
        </p:txBody>
      </p:sp>
    </p:spTree>
    <p:extLst>
      <p:ext uri="{BB962C8B-B14F-4D97-AF65-F5344CB8AC3E}">
        <p14:creationId xmlns:p14="http://schemas.microsoft.com/office/powerpoint/2010/main" val="20250779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477A8-6E17-4AF8-8655-51A0610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F811D-3B34-4663-8F75-3F91E25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42217-5D7C-407B-8FA6-7B54222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66"/>
                </a:solidFill>
                <a:latin typeface="Aptos"/>
                <a:ea typeface="Aptos"/>
                <a:cs typeface="Aptos"/>
              </a:rPr>
              <a:t>4. 數據收集及如何分析賣給商家 · 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F2F88-AA2C-4689-9F70-51D579CF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1D2A5-60FE-4F7D-96BC-711B6B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可賣給商家的不是個人資料，而是匿名彙整後的口味需求洞察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30F3D-D5CF-492A-8981-1E1BB2A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商家想知道的是：什麼口味被需要、哪種客群組合正在增加、哪些品項可以補上。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3CE7A-9B8D-454F-8153-ABB3273B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46DF3-F942-44FD-A579-DF2A23C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AC87D-4EA9-461B-9F62-D6A0A871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收集事件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C5702-81A1-4FB8-9B06-CDC58C0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533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作答選項、Top 3 結果、重新調整、點擊官方頁面、收藏/分享、時間與地區。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2286E-C5F7-459F-8FC7-B05AD1B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D2C83-7E44-4C32-8751-32076C8F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F2BE0-E6CD-41C6-89DE-7A8A693E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7C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AB1A8-F486-45BD-B765-6D769DE1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BEC51-611A-4E2C-BE8A-29B9895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146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隱私處理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7E432-9104-4605-8ED5-BA7BD4C1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38450"/>
            <a:ext cx="2533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不賣姓名、電話、個人識別；只看匿名、彙整、足夠樣本數的趨勢。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232BA-3186-4271-BD95-145A2E70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BE18A-9B38-4F46-9522-1753D74C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527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E9375-12F9-4899-8E4F-AF0135C5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6D5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D5694-4FD6-41D5-A1DA-3B04386C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E8E43-B70E-4B01-9D83-EF38068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分析輸出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D8FB1-6FC8-4BEB-8CA0-AC2A16B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2533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風格熱度、口味組合、排除食材比例、搜尋未命中、地區需求。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37291-FDF3-470A-9C71-6F6FCD9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244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4AE11-5DB9-4E31-828E-55465B59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00600"/>
            <a:ext cx="754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資料收集的價值：把「今天想吃什麼」變成商家可看懂的需求訊號。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44B5E-A87A-4CFD-89AE-12E0BAE0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E5B5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99188-1E03-435D-9786-51C4AE3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0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EE0AF-26C2-4231-A157-9AF82DAA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81650"/>
            <a:ext cx="653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報告要強調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CFF44-3C1F-4109-86DB-3FF0F95F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6534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這一頁是未來商業化設計：目前 V1 已有本機作答暫存與結果資料結構，但還沒有正式分析後台。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05F34-C6E7-45F9-B6ED-EB2579AD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來源：README.md · Current Scope / Next；商家分析為下一階段設計方向。</a:t>
            </a:r>
          </a:p>
        </p:txBody>
      </p:sp>
    </p:spTree>
    <p:extLst>
      <p:ext uri="{BB962C8B-B14F-4D97-AF65-F5344CB8AC3E}">
        <p14:creationId xmlns:p14="http://schemas.microsoft.com/office/powerpoint/2010/main" val="19595206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13CF1-5CF0-4207-B14C-06E7C00D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9655F-D85A-4721-913D-754EE0E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3A44C-ED25-48DF-93EB-593AD25E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4. 數據收集及如何分析賣給商家 · 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B0B41-7FC4-4A36-9280-8070FB53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EB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EBD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7ADD4-6AAD-4259-ADDF-CA1333F9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09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rPr>
              <a:t>商業化方向：把分類結果轉成店家能行動的市場報告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B385-7266-4C24-85F1-2121276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賣的是分析產品，不是賣個資；商家買到的是菜單、庫存、行銷和展店決策線索。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84CFF-0D8D-4A88-9276-80624BCD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F3B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1AF24-38F8-461F-9F65-D88F2B4E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381CD-20B3-43FD-8E18-82707C84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菜單優化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248B7-29BF-4801-B12B-4163AEFE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哪些風格被搜尋但現有 catalog 沒有接上，代表可能有新品機會。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EDBEE-43BE-4945-A4F7-FCC8772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F3B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0F4B4-26EB-409F-AD1C-7B4D1A30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41AA8-619F-4152-93BC-A5AB5984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717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行銷分眾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D5F26-4DF7-4DE2-A71A-B6F63FA7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喜歡濃厚豚骨、清湯、沾麵或乾拌的人，可以看到不同內容和優惠。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AE504-4029-4932-AAED-07F4D41B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F3B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9506E-0332-42BB-A3D8-BC0165B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18621-E28A-410C-8561-E43773A8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營運預測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11A13-AD7E-468A-A48E-78A4BEA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560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依時間、地區與天氣季節，觀察淡麗、濃厚、辣麻等需求變化。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270A1-063F-4341-8AA9-EFA7EE3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月報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3F6E4-3C67-4E5D-BAF4-C8F5B8A9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每月趨勢與競品風格洞察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9F364-AFAF-431B-A22D-81D707A2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35F32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DC071-3D92-41F1-B4E8-C87F70CC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即時看偏好熱度與轉換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6C322-978A-40E2-9A72-2D2327E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E7D66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BEFA2-D9A0-41E6-BF0A-040E923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讓商家接入自己的菜單系統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ECD6C-169D-4132-9AEC-FD809C6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4C3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05DCC-F1F3-4D21-BB57-7B9395A0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86450"/>
            <a:ext cx="849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總結：拉麵介紹建立背景，公平分類建立信任，結果使用創造體驗，商家分析創造商業價值。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EC2C8-B609-4D95-AEF0-17AE48C9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8A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8A5"/>
                </a:solidFill>
                <a:latin typeface="Aptos"/>
                <a:ea typeface="Aptos"/>
                <a:cs typeface="Aptos"/>
              </a:rPr>
              <a:t>期末報告收尾句：這是從口味問卷走向餐飲數據產品的 MVP。</a:t>
            </a:r>
          </a:p>
        </p:txBody>
      </p:sp>
    </p:spTree>
    <p:extLst>
      <p:ext uri="{BB962C8B-B14F-4D97-AF65-F5344CB8AC3E}">
        <p14:creationId xmlns:p14="http://schemas.microsoft.com/office/powerpoint/2010/main" val="699065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2026-06-03T07:25:24.6190000Z</dcterms:created>
  <dcterms:modified xsi:type="dcterms:W3CDTF">2026-06-03T07:25:24.6190000Z</dcterms:modified>
</coreProperties>
</file>