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31D5107-7E42-4BF5-9FA3-EE7D12BBDE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8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EB8F1A-60A4-4A87-AF7C-4D7CD182E4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07957-208D-4FE7-830B-B12C636FA9E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23A"/>
                </a:solidFill>
                <a:latin typeface="Aptos"/>
                <a:ea typeface="Aptos"/>
                <a:cs typeface="Aptos"/>
              </a:rPr>
              <a:t>期末報告 · 全圖型版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7E79C4-EEE1-4D01-AFB5-8DB5AC6F4085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EAD7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D7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631E11-65A6-4EF0-BDBA-4E9A2394BF3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6667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FF9E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9EF"/>
                </a:solidFill>
                <a:latin typeface="Aptos Display"/>
                <a:ea typeface="Aptos Display"/>
                <a:cs typeface="Aptos Display"/>
              </a:rPr>
              <a:t>Ramen Style Today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EA7C04-1E74-491F-BFDF-8BA42C61444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647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用拉麵知識建立公平分類，再把匿名需求變成商家可行動的分析。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C3EBF2-89CF-4B8F-9812-70AB8BA2E68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334000" cy="1238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854CF6-7461-418A-BDF4-5B40C6D495E7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66675" cy="123825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145CCC-2147-4501-B9BA-F90DD0095E8E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499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這版怎麼講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D4836E-D7D8-4E90-8FCB-77EE32F990B5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4991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不是照技術規格朗讀；是用圖解說明：拉麵為什麼要分類、怎麼分類才公正、結果如何被使用、商家能買到什麼洞察。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FD5573-F94E-42C1-BF9E-446F34A7855E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953000" cy="361950"/>
          </a:xfrm>
          <a:prstGeom prst="rect">
            <a:avLst/>
          </a:prstGeom>
          <a:solidFill>
            <a:srgbClr val="263241"/>
          </a:solidFill>
          <a:ln w="9525">
            <a:solidFill>
              <a:srgbClr val="3D4B5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82AB19-6196-4C96-9CDF-B732A8264347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468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講述比重：三分鐘、三分鐘、兩分鐘、兩分鐘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C0F9E1-17FB-4F7F-A78A-20CF2679D969}"/>
              </a:ext>
            </a:extLst>
          </p:cNvPr>
          <p:cNvSpPr>
            <a:spLocks noGrp="1"/>
          </p:cNvSpPr>
          <p:nvPr/>
        </p:nvSpPr>
        <p:spPr>
          <a:xfrm>
            <a:off x="7124700" y="3581400"/>
            <a:ext cx="876300" cy="13716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E959A2-FA61-4817-8CF4-48C66A93C0AD}"/>
              </a:ext>
            </a:extLst>
          </p:cNvPr>
          <p:cNvSpPr>
            <a:spLocks noGrp="1"/>
          </p:cNvSpPr>
          <p:nvPr/>
        </p:nvSpPr>
        <p:spPr>
          <a:xfrm>
            <a:off x="6991350" y="32575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9A2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9A23A"/>
                </a:solidFill>
                <a:latin typeface="Aptos Display"/>
                <a:ea typeface="Aptos Display"/>
                <a:cs typeface="Aptos Display"/>
              </a:rPr>
              <a:t>3 分鐘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0B98B2-2ABF-4A87-B1FF-62761A0A7EA7}"/>
              </a:ext>
            </a:extLst>
          </p:cNvPr>
          <p:cNvSpPr>
            <a:spLocks noGrp="1"/>
          </p:cNvSpPr>
          <p:nvPr/>
        </p:nvSpPr>
        <p:spPr>
          <a:xfrm>
            <a:off x="6981825" y="5105400"/>
            <a:ext cx="1162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EAD7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D7BF"/>
                </a:solidFill>
                <a:latin typeface="Aptos"/>
                <a:ea typeface="Aptos"/>
                <a:cs typeface="Aptos"/>
              </a:rPr>
              <a:t>介紹拉麵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37556E-B35B-4AAA-B665-A083EE4060F3}"/>
              </a:ext>
            </a:extLst>
          </p:cNvPr>
          <p:cNvSpPr>
            <a:spLocks noGrp="1"/>
          </p:cNvSpPr>
          <p:nvPr/>
        </p:nvSpPr>
        <p:spPr>
          <a:xfrm>
            <a:off x="8382000" y="3581400"/>
            <a:ext cx="876300" cy="13716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545D7B-E04D-4757-A9C0-A702E1F145F3}"/>
              </a:ext>
            </a:extLst>
          </p:cNvPr>
          <p:cNvSpPr>
            <a:spLocks noGrp="1"/>
          </p:cNvSpPr>
          <p:nvPr/>
        </p:nvSpPr>
        <p:spPr>
          <a:xfrm>
            <a:off x="8248650" y="32575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857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85738"/>
                </a:solidFill>
                <a:latin typeface="Aptos Display"/>
                <a:ea typeface="Aptos Display"/>
                <a:cs typeface="Aptos Display"/>
              </a:rPr>
              <a:t>3 分鐘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05337B-BF4E-4BB4-841A-0BEAF24FDB46}"/>
              </a:ext>
            </a:extLst>
          </p:cNvPr>
          <p:cNvSpPr>
            <a:spLocks noGrp="1"/>
          </p:cNvSpPr>
          <p:nvPr/>
        </p:nvSpPr>
        <p:spPr>
          <a:xfrm>
            <a:off x="8239125" y="5105400"/>
            <a:ext cx="1162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EAD7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D7BF"/>
                </a:solidFill>
                <a:latin typeface="Aptos"/>
                <a:ea typeface="Aptos"/>
                <a:cs typeface="Aptos"/>
              </a:rPr>
              <a:t>公正分類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EDAA9B-E84B-416D-B590-D13AD656D6EE}"/>
              </a:ext>
            </a:extLst>
          </p:cNvPr>
          <p:cNvSpPr>
            <a:spLocks noGrp="1"/>
          </p:cNvSpPr>
          <p:nvPr/>
        </p:nvSpPr>
        <p:spPr>
          <a:xfrm>
            <a:off x="9639300" y="4038600"/>
            <a:ext cx="876300" cy="9144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A16782-FE73-4EF4-8B77-ED7FE966774D}"/>
              </a:ext>
            </a:extLst>
          </p:cNvPr>
          <p:cNvSpPr>
            <a:spLocks noGrp="1"/>
          </p:cNvSpPr>
          <p:nvPr/>
        </p:nvSpPr>
        <p:spPr>
          <a:xfrm>
            <a:off x="9505950" y="3714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E5F8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5F8A"/>
                </a:solidFill>
                <a:latin typeface="Aptos Display"/>
                <a:ea typeface="Aptos Display"/>
                <a:cs typeface="Aptos Display"/>
              </a:rPr>
              <a:t>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5068CB-EC73-48DB-97C4-C8BFC21D16C6}"/>
              </a:ext>
            </a:extLst>
          </p:cNvPr>
          <p:cNvSpPr>
            <a:spLocks noGrp="1"/>
          </p:cNvSpPr>
          <p:nvPr/>
        </p:nvSpPr>
        <p:spPr>
          <a:xfrm>
            <a:off x="9496425" y="5105400"/>
            <a:ext cx="1162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EAD7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D7BF"/>
                </a:solidFill>
                <a:latin typeface="Aptos"/>
                <a:ea typeface="Aptos"/>
                <a:cs typeface="Aptos"/>
              </a:rPr>
              <a:t>結果使用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CAE0D0-1220-40B9-8D04-5176061CF85C}"/>
              </a:ext>
            </a:extLst>
          </p:cNvPr>
          <p:cNvSpPr>
            <a:spLocks noGrp="1"/>
          </p:cNvSpPr>
          <p:nvPr/>
        </p:nvSpPr>
        <p:spPr>
          <a:xfrm>
            <a:off x="10896600" y="4038600"/>
            <a:ext cx="876300" cy="9144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8E1B8-7781-4E76-A809-C11CB1F78426}"/>
              </a:ext>
            </a:extLst>
          </p:cNvPr>
          <p:cNvSpPr>
            <a:spLocks noGrp="1"/>
          </p:cNvSpPr>
          <p:nvPr/>
        </p:nvSpPr>
        <p:spPr>
          <a:xfrm>
            <a:off x="10763250" y="3714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B7A6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B7A65"/>
                </a:solidFill>
                <a:latin typeface="Aptos Display"/>
                <a:ea typeface="Aptos Display"/>
                <a:cs typeface="Aptos Display"/>
              </a:rPr>
              <a:t>2 分鐘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4BAFAB-8AA5-4F2D-828D-7217587C8507}"/>
              </a:ext>
            </a:extLst>
          </p:cNvPr>
          <p:cNvSpPr>
            <a:spLocks noGrp="1"/>
          </p:cNvSpPr>
          <p:nvPr/>
        </p:nvSpPr>
        <p:spPr>
          <a:xfrm>
            <a:off x="10753725" y="5105400"/>
            <a:ext cx="1162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EAD7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D7BF"/>
                </a:solidFill>
                <a:latin typeface="Aptos"/>
                <a:ea typeface="Aptos"/>
                <a:cs typeface="Aptos"/>
              </a:rPr>
              <a:t>商家數據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C46A864-FDD7-410B-86D8-155F932694B9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DBBA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DBBA8"/>
                </a:solidFill>
                <a:latin typeface="Aptos"/>
                <a:ea typeface="Aptos"/>
                <a:cs typeface="Aptos"/>
              </a:rPr>
              <a:t>資料來源：README.md、docs/spec.md；本版不使用 App 截圖。</a:t>
            </a:r>
          </a:p>
        </p:txBody>
      </p:sp>
    </p:spTree>
    <p:extLst>
      <p:ext uri="{BB962C8B-B14F-4D97-AF65-F5344CB8AC3E}">
        <p14:creationId xmlns:p14="http://schemas.microsoft.com/office/powerpoint/2010/main" val="64557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69B9C28-60B6-48FC-908E-489DCF2E2E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F4D6BC-3531-459B-AA27-E624122E0D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3A316C-96FD-45ED-9AA9-53EEFB76A6C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23A"/>
                </a:solidFill>
                <a:latin typeface="Aptos"/>
                <a:ea typeface="Aptos"/>
                <a:cs typeface="Aptos"/>
              </a:rPr>
              <a:t>一、介紹拉麵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17500C-E6CA-4983-965D-2C800C5D382C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3BE7A5-562C-43D4-92FF-9A2B4CBD3DF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先把一碗拉麵拆開：它其實是幾個決策疊在一起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209AA2-A46D-43D9-8258-B8A26EECF23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使用者不需要懂所有流派，只要回答這些可感知的部分。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5DCB3DC-8258-4FB9-A9EE-C4AABB77BCD0}"/>
              </a:ext>
            </a:extLst>
          </p:cNvPr>
          <p:cNvSpPr>
            <a:spLocks noGrp="1"/>
          </p:cNvSpPr>
          <p:nvPr/>
        </p:nvSpPr>
        <p:spPr>
          <a:xfrm>
            <a:off x="1809750" y="3905250"/>
            <a:ext cx="4762500" cy="876300"/>
          </a:xfrm>
          <a:prstGeom prst="ellipse">
            <a:avLst/>
          </a:prstGeom>
          <a:solidFill>
            <a:srgbClr val="D8A1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B6E1640B-3296-4405-92B6-9FDFF0645FBC}"/>
              </a:ext>
            </a:extLst>
          </p:cNvPr>
          <p:cNvSpPr>
            <a:spLocks noGrp="1"/>
          </p:cNvSpPr>
          <p:nvPr/>
        </p:nvSpPr>
        <p:spPr>
          <a:xfrm>
            <a:off x="2114550" y="3429000"/>
            <a:ext cx="4152900" cy="1123950"/>
          </a:xfrm>
          <a:prstGeom prst="ellipse">
            <a:avLst/>
          </a:prstGeom>
          <a:solidFill>
            <a:srgbClr val="F3D0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5F302DA-7F12-4C63-9A3D-3907D7418045}"/>
              </a:ext>
            </a:extLst>
          </p:cNvPr>
          <p:cNvSpPr>
            <a:spLocks noGrp="1"/>
          </p:cNvSpPr>
          <p:nvPr/>
        </p:nvSpPr>
        <p:spPr>
          <a:xfrm>
            <a:off x="2419350" y="3562350"/>
            <a:ext cx="3543300" cy="781050"/>
          </a:xfrm>
          <a:prstGeom prst="ellipse">
            <a:avLst/>
          </a:prstGeom>
          <a:solidFill>
            <a:srgbClr val="B85C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A87EC37-8DE3-44D2-85A9-75CDD9809B3A}"/>
              </a:ext>
            </a:extLst>
          </p:cNvPr>
          <p:cNvSpPr>
            <a:spLocks noGrp="1"/>
          </p:cNvSpPr>
          <p:nvPr/>
        </p:nvSpPr>
        <p:spPr>
          <a:xfrm>
            <a:off x="2762250" y="3676650"/>
            <a:ext cx="2857500" cy="495300"/>
          </a:xfrm>
          <a:prstGeom prst="ellipse">
            <a:avLst/>
          </a:prstGeom>
          <a:solidFill>
            <a:srgbClr val="E8B3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B5BF3A3-7B4B-44E1-95FC-6CEA5911E45C}"/>
              </a:ext>
            </a:extLst>
          </p:cNvPr>
          <p:cNvSpPr>
            <a:spLocks noGrp="1"/>
          </p:cNvSpPr>
          <p:nvPr/>
        </p:nvSpPr>
        <p:spPr>
          <a:xfrm>
            <a:off x="3048000" y="3733800"/>
            <a:ext cx="762000" cy="152400"/>
          </a:xfrm>
          <a:prstGeom prst="ellipse">
            <a:avLst/>
          </a:prstGeom>
          <a:solidFill>
            <a:srgbClr val="F7E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D5292DA-5155-4669-A7DD-F1F3A5C6D0B4}"/>
              </a:ext>
            </a:extLst>
          </p:cNvPr>
          <p:cNvSpPr>
            <a:spLocks noGrp="1"/>
          </p:cNvSpPr>
          <p:nvPr/>
        </p:nvSpPr>
        <p:spPr>
          <a:xfrm>
            <a:off x="3924300" y="3810000"/>
            <a:ext cx="1047750" cy="114300"/>
          </a:xfrm>
          <a:prstGeom prst="ellipse">
            <a:avLst/>
          </a:prstGeom>
          <a:solidFill>
            <a:srgbClr val="F7E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AB564AD-6CCC-4E09-AAA3-7083BF81144B}"/>
              </a:ext>
            </a:extLst>
          </p:cNvPr>
          <p:cNvSpPr>
            <a:spLocks noGrp="1"/>
          </p:cNvSpPr>
          <p:nvPr/>
        </p:nvSpPr>
        <p:spPr>
          <a:xfrm>
            <a:off x="4895850" y="3676650"/>
            <a:ext cx="533400" cy="285750"/>
          </a:xfrm>
          <a:prstGeom prst="ellipse">
            <a:avLst/>
          </a:prstGeom>
          <a:solidFill>
            <a:srgbClr val="315E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7D90BFD-0D35-47E1-B9A0-6A0F270C6B47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1219200" cy="495300"/>
          </a:xfrm>
          <a:prstGeom prst="ellipse">
            <a:avLst/>
          </a:prstGeom>
          <a:solidFill>
            <a:srgbClr val="B971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7657947-7974-43DB-ADB9-4204BCF3014B}"/>
              </a:ext>
            </a:extLst>
          </p:cNvPr>
          <p:cNvSpPr>
            <a:spLocks noGrp="1"/>
          </p:cNvSpPr>
          <p:nvPr/>
        </p:nvSpPr>
        <p:spPr>
          <a:xfrm>
            <a:off x="3505200" y="3257550"/>
            <a:ext cx="1066800" cy="304800"/>
          </a:xfrm>
          <a:prstGeom prst="ellipse">
            <a:avLst/>
          </a:prstGeom>
          <a:solidFill>
            <a:srgbClr val="D69B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6E1BB5F-E0AE-4276-80C0-D90FF2F42ADA}"/>
              </a:ext>
            </a:extLst>
          </p:cNvPr>
          <p:cNvSpPr>
            <a:spLocks noGrp="1"/>
          </p:cNvSpPr>
          <p:nvPr/>
        </p:nvSpPr>
        <p:spPr>
          <a:xfrm>
            <a:off x="4972050" y="3257550"/>
            <a:ext cx="552450" cy="552450"/>
          </a:xfrm>
          <a:prstGeom prst="ellipse">
            <a:avLst/>
          </a:prstGeom>
          <a:solidFill>
            <a:srgbClr val="F4D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58E13430-B208-4E02-B2ED-F43EEB5F05C1}"/>
              </a:ext>
            </a:extLst>
          </p:cNvPr>
          <p:cNvSpPr>
            <a:spLocks noGrp="1"/>
          </p:cNvSpPr>
          <p:nvPr/>
        </p:nvSpPr>
        <p:spPr>
          <a:xfrm>
            <a:off x="5067300" y="3352800"/>
            <a:ext cx="361950" cy="361950"/>
          </a:xfrm>
          <a:prstGeom prst="ellipse">
            <a:avLst/>
          </a:prstGeom>
          <a:solidFill>
            <a:srgbClr val="F8E7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2B83AC-F8D6-426B-9481-22E9969C459F}"/>
              </a:ext>
            </a:extLst>
          </p:cNvPr>
          <p:cNvSpPr>
            <a:spLocks noGrp="1"/>
          </p:cNvSpPr>
          <p:nvPr/>
        </p:nvSpPr>
        <p:spPr>
          <a:xfrm>
            <a:off x="4210050" y="2152650"/>
            <a:ext cx="38100" cy="11811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4B43E0-AE52-4CA9-9734-675AF4879452}"/>
              </a:ext>
            </a:extLst>
          </p:cNvPr>
          <p:cNvSpPr>
            <a:spLocks noGrp="1"/>
          </p:cNvSpPr>
          <p:nvPr/>
        </p:nvSpPr>
        <p:spPr>
          <a:xfrm>
            <a:off x="5857875" y="2628900"/>
            <a:ext cx="1619250" cy="381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27A187-655F-4921-B77F-A03FBC3D2C81}"/>
              </a:ext>
            </a:extLst>
          </p:cNvPr>
          <p:cNvSpPr>
            <a:spLocks noGrp="1"/>
          </p:cNvSpPr>
          <p:nvPr/>
        </p:nvSpPr>
        <p:spPr>
          <a:xfrm>
            <a:off x="2381250" y="2876550"/>
            <a:ext cx="1476375" cy="381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55479C-6B4A-4302-A994-96CDBB1BEEFC}"/>
              </a:ext>
            </a:extLst>
          </p:cNvPr>
          <p:cNvSpPr>
            <a:spLocks noGrp="1"/>
          </p:cNvSpPr>
          <p:nvPr/>
        </p:nvSpPr>
        <p:spPr>
          <a:xfrm>
            <a:off x="5467350" y="3733800"/>
            <a:ext cx="2000250" cy="381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247AF72-A2AA-44B1-AA20-CA2612A596A7}"/>
              </a:ext>
            </a:extLst>
          </p:cNvPr>
          <p:cNvSpPr>
            <a:spLocks noGrp="1"/>
          </p:cNvSpPr>
          <p:nvPr/>
        </p:nvSpPr>
        <p:spPr>
          <a:xfrm>
            <a:off x="3162300" y="2038350"/>
            <a:ext cx="2667000" cy="361950"/>
          </a:xfrm>
          <a:prstGeom prst="rect">
            <a:avLst/>
          </a:prstGeom>
          <a:solidFill>
            <a:srgbClr val="FFF0E4"/>
          </a:solidFill>
          <a:ln w="9525">
            <a:solidFill>
              <a:srgbClr val="E8C7A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A3808D-74D9-41CA-94CF-6AFAB8764B0A}"/>
              </a:ext>
            </a:extLst>
          </p:cNvPr>
          <p:cNvSpPr>
            <a:spLocks noGrp="1"/>
          </p:cNvSpPr>
          <p:nvPr/>
        </p:nvSpPr>
        <p:spPr>
          <a:xfrm>
            <a:off x="3295650" y="21145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調味 tare：醬油 / 鹽味 / 味噌 / 辣麻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A208FB-AD84-4B84-9F81-4EDCD78510AB}"/>
              </a:ext>
            </a:extLst>
          </p:cNvPr>
          <p:cNvSpPr>
            <a:spLocks noGrp="1"/>
          </p:cNvSpPr>
          <p:nvPr/>
        </p:nvSpPr>
        <p:spPr>
          <a:xfrm>
            <a:off x="7448550" y="2457450"/>
            <a:ext cx="3048000" cy="36195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E75F73-0577-4AD6-B19F-00993AB00665}"/>
              </a:ext>
            </a:extLst>
          </p:cNvPr>
          <p:cNvSpPr>
            <a:spLocks noGrp="1"/>
          </p:cNvSpPr>
          <p:nvPr/>
        </p:nvSpPr>
        <p:spPr>
          <a:xfrm>
            <a:off x="7581900" y="25336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主出汁：豬、雞、鴨、魚介、貝類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386803-F709-4244-AC4C-D9DD530B9B5A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2000250" cy="36195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FD0316-103A-4779-968D-6CC079B57530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麵體：細直到極粗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E2C2AD2-EDB6-4800-B3B0-6A66C8E8F55D}"/>
              </a:ext>
            </a:extLst>
          </p:cNvPr>
          <p:cNvSpPr>
            <a:spLocks noGrp="1"/>
          </p:cNvSpPr>
          <p:nvPr/>
        </p:nvSpPr>
        <p:spPr>
          <a:xfrm>
            <a:off x="7448550" y="3581400"/>
            <a:ext cx="3333750" cy="361950"/>
          </a:xfrm>
          <a:prstGeom prst="rect">
            <a:avLst/>
          </a:prstGeom>
          <a:solidFill>
            <a:srgbClr val="F1EDF8"/>
          </a:solidFill>
          <a:ln w="9525">
            <a:solidFill>
              <a:srgbClr val="CBBBE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737A383-BFD8-462B-84F5-EC22AC0D1B11}"/>
              </a:ext>
            </a:extLst>
          </p:cNvPr>
          <p:cNvSpPr>
            <a:spLocks noGrp="1"/>
          </p:cNvSpPr>
          <p:nvPr/>
        </p:nvSpPr>
        <p:spPr>
          <a:xfrm>
            <a:off x="7581900" y="3657600"/>
            <a:ext cx="3067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標誌元素：海苔、柚子、玉米、蒜背脂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767BE4-472A-4542-B9C3-42007BE8DC2C}"/>
              </a:ext>
            </a:extLst>
          </p:cNvPr>
          <p:cNvSpPr>
            <a:spLocks noGrp="1"/>
          </p:cNvSpPr>
          <p:nvPr/>
        </p:nvSpPr>
        <p:spPr>
          <a:xfrm>
            <a:off x="1428750" y="54102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報告講法：拉麵推薦不是問使用者懂多少名詞，而是問今天想要哪種口味和口感。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433856C-B2E5-4E66-BD1A-29CD53042019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對應問卷：Q3 調味、Q4 出汁、Q5 濃淡、Q6 麵體、Q7 標誌元素。</a:t>
            </a:r>
          </a:p>
        </p:txBody>
      </p:sp>
    </p:spTree>
    <p:extLst>
      <p:ext uri="{BB962C8B-B14F-4D97-AF65-F5344CB8AC3E}">
        <p14:creationId xmlns:p14="http://schemas.microsoft.com/office/powerpoint/2010/main" val="37968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06AE44D2-9FA7-4B24-994A-6B68F05CC9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37F7B5-F981-45DB-9BC0-E2E95B35EF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081688-DD8F-4810-9D8E-17DB97B0679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23A"/>
                </a:solidFill>
                <a:latin typeface="Aptos"/>
                <a:ea typeface="Aptos"/>
                <a:cs typeface="Aptos"/>
              </a:rPr>
              <a:t>一、介紹拉麵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A6E98C-8903-4399-A2FC-6A5D2339A3B1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D2F94D-3E9B-4027-ADBE-E7C0A74DF40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拉麵分類先從形式分流，避免把不同吃法混在一起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2FC169-B67E-4A97-A3FF-2C0EB3F3E81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MVP 的第一題不是問口味，而是先決定湯、沾、拌，讓後續問題更公平。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DA235E-070E-48F5-AC25-C71BC8FADB6B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2857500" cy="1809750"/>
          </a:xfrm>
          <a:prstGeom prst="rect">
            <a:avLst/>
          </a:prstGeom>
          <a:solidFill>
            <a:srgbClr val="FFF9EF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C2B033-E9CF-4208-AFF6-6627B0443624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66675" cy="180975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71BA8A-55C6-41A9-907E-4D3C53C63143}"/>
              </a:ext>
            </a:extLst>
          </p:cNvPr>
          <p:cNvSpPr>
            <a:spLocks noGrp="1"/>
          </p:cNvSpPr>
          <p:nvPr/>
        </p:nvSpPr>
        <p:spPr>
          <a:xfrm>
            <a:off x="1047750" y="26289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湯拉麵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D4FD87-FCAB-4C5C-BBDE-54B2294E216D}"/>
              </a:ext>
            </a:extLst>
          </p:cNvPr>
          <p:cNvSpPr>
            <a:spLocks noGrp="1"/>
          </p:cNvSpPr>
          <p:nvPr/>
        </p:nvSpPr>
        <p:spPr>
          <a:xfrm>
            <a:off x="1047750" y="2952750"/>
            <a:ext cx="25146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清湯 / 白湯</a:t>
            </a:r>
          </a:p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醬油、鹽味、味噌、豚骨、雞、鴨、魚介、家系、二郎、博多、札幌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970931-0344-445B-AAC8-B460DB6F7F41}"/>
              </a:ext>
            </a:extLst>
          </p:cNvPr>
          <p:cNvSpPr>
            <a:spLocks noGrp="1"/>
          </p:cNvSpPr>
          <p:nvPr/>
        </p:nvSpPr>
        <p:spPr>
          <a:xfrm>
            <a:off x="4667250" y="2476500"/>
            <a:ext cx="2381250" cy="180975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06EBE1-E93E-4A26-88A4-0D6BDA8753F1}"/>
              </a:ext>
            </a:extLst>
          </p:cNvPr>
          <p:cNvSpPr>
            <a:spLocks noGrp="1"/>
          </p:cNvSpPr>
          <p:nvPr/>
        </p:nvSpPr>
        <p:spPr>
          <a:xfrm>
            <a:off x="4667250" y="2476500"/>
            <a:ext cx="66675" cy="18097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74CA9A-91E2-415A-AEAA-921F72772580}"/>
              </a:ext>
            </a:extLst>
          </p:cNvPr>
          <p:cNvSpPr>
            <a:spLocks noGrp="1"/>
          </p:cNvSpPr>
          <p:nvPr/>
        </p:nvSpPr>
        <p:spPr>
          <a:xfrm>
            <a:off x="4857750" y="26289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沾麵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6389BD-347D-4FC6-882A-7179868C510E}"/>
              </a:ext>
            </a:extLst>
          </p:cNvPr>
          <p:cNvSpPr>
            <a:spLocks noGrp="1"/>
          </p:cNvSpPr>
          <p:nvPr/>
        </p:nvSpPr>
        <p:spPr>
          <a:xfrm>
            <a:off x="4857750" y="2952750"/>
            <a:ext cx="2038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昆布水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濃厚魚介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濃厚味噌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其他沾麵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0F3721-1E99-46DE-B4D3-20D49DAB263C}"/>
              </a:ext>
            </a:extLst>
          </p:cNvPr>
          <p:cNvSpPr>
            <a:spLocks noGrp="1"/>
          </p:cNvSpPr>
          <p:nvPr/>
        </p:nvSpPr>
        <p:spPr>
          <a:xfrm>
            <a:off x="8001000" y="2476500"/>
            <a:ext cx="2381250" cy="180975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1CCBAC-012E-434B-8819-F553A27EE5F1}"/>
              </a:ext>
            </a:extLst>
          </p:cNvPr>
          <p:cNvSpPr>
            <a:spLocks noGrp="1"/>
          </p:cNvSpPr>
          <p:nvPr/>
        </p:nvSpPr>
        <p:spPr>
          <a:xfrm>
            <a:off x="8001000" y="2476500"/>
            <a:ext cx="66675" cy="18097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D0AEC5-181F-4EBC-989B-C535E705CD01}"/>
              </a:ext>
            </a:extLst>
          </p:cNvPr>
          <p:cNvSpPr>
            <a:spLocks noGrp="1"/>
          </p:cNvSpPr>
          <p:nvPr/>
        </p:nvSpPr>
        <p:spPr>
          <a:xfrm>
            <a:off x="8191500" y="26289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乾拌 / 油拌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C99DE2-847D-4D25-8121-2358982E1111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2038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油そば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台灣まぜ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汁なし担々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其他乾拌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EC90E4-219E-4039-BDE9-F18BC2B5F59F}"/>
              </a:ext>
            </a:extLst>
          </p:cNvPr>
          <p:cNvSpPr>
            <a:spLocks noGrp="1"/>
          </p:cNvSpPr>
          <p:nvPr/>
        </p:nvSpPr>
        <p:spPr>
          <a:xfrm>
            <a:off x="1695450" y="2400300"/>
            <a:ext cx="7867650" cy="381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257554-B296-4FB8-9C5A-8F7CD7383A87}"/>
              </a:ext>
            </a:extLst>
          </p:cNvPr>
          <p:cNvSpPr>
            <a:spLocks noGrp="1"/>
          </p:cNvSpPr>
          <p:nvPr/>
        </p:nvSpPr>
        <p:spPr>
          <a:xfrm>
            <a:off x="2266950" y="2400300"/>
            <a:ext cx="38100" cy="762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B0F191-9702-4EDC-AD12-7B230F37F6BA}"/>
              </a:ext>
            </a:extLst>
          </p:cNvPr>
          <p:cNvSpPr>
            <a:spLocks noGrp="1"/>
          </p:cNvSpPr>
          <p:nvPr/>
        </p:nvSpPr>
        <p:spPr>
          <a:xfrm>
            <a:off x="5810250" y="2400300"/>
            <a:ext cx="38100" cy="762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D4E1F6-D11E-4289-A7B9-DF9B5C039034}"/>
              </a:ext>
            </a:extLst>
          </p:cNvPr>
          <p:cNvSpPr>
            <a:spLocks noGrp="1"/>
          </p:cNvSpPr>
          <p:nvPr/>
        </p:nvSpPr>
        <p:spPr>
          <a:xfrm>
            <a:off x="9182100" y="2400300"/>
            <a:ext cx="38100" cy="762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A6746E-2427-42BC-B002-5D70F7A8C342}"/>
              </a:ext>
            </a:extLst>
          </p:cNvPr>
          <p:cNvSpPr>
            <a:spLocks noGrp="1"/>
          </p:cNvSpPr>
          <p:nvPr/>
        </p:nvSpPr>
        <p:spPr>
          <a:xfrm>
            <a:off x="4572000" y="2057400"/>
            <a:ext cx="2476500" cy="3619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C9F7AD-1042-49BC-B633-2C8E419A4D6D}"/>
              </a:ext>
            </a:extLst>
          </p:cNvPr>
          <p:cNvSpPr>
            <a:spLocks noGrp="1"/>
          </p:cNvSpPr>
          <p:nvPr/>
        </p:nvSpPr>
        <p:spPr>
          <a:xfrm>
            <a:off x="4705350" y="213360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Q1：今天想吃哪一種？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718EF6-FAFD-4065-A861-7D0BEE0375FA}"/>
              </a:ext>
            </a:extLst>
          </p:cNvPr>
          <p:cNvSpPr>
            <a:spLocks noGrp="1"/>
          </p:cNvSpPr>
          <p:nvPr/>
        </p:nvSpPr>
        <p:spPr>
          <a:xfrm>
            <a:off x="1952625" y="4438650"/>
            <a:ext cx="2095500" cy="381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三角形 25">
            <a:extLst>
              <a:ext uri="{FF2B5EF4-FFF2-40B4-BE49-F238E27FC236}">
                <a16:creationId xmlns:a16="http://schemas.microsoft.com/office/drawing/2014/main" id="{C6E71773-BC4A-4702-B056-6A478FC639BA}"/>
              </a:ext>
            </a:extLst>
          </p:cNvPr>
          <p:cNvSpPr>
            <a:spLocks noGrp="1"/>
          </p:cNvSpPr>
          <p:nvPr/>
        </p:nvSpPr>
        <p:spPr>
          <a:xfrm>
            <a:off x="3990975" y="4362450"/>
            <a:ext cx="152400" cy="152400"/>
          </a:xfrm>
          <a:prstGeom prst="triangle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93BBB7-524A-4FC0-B8C4-418B4897B28D}"/>
              </a:ext>
            </a:extLst>
          </p:cNvPr>
          <p:cNvSpPr>
            <a:spLocks noGrp="1"/>
          </p:cNvSpPr>
          <p:nvPr/>
        </p:nvSpPr>
        <p:spPr>
          <a:xfrm>
            <a:off x="5095875" y="4438650"/>
            <a:ext cx="1619250" cy="381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三角形 27">
            <a:extLst>
              <a:ext uri="{FF2B5EF4-FFF2-40B4-BE49-F238E27FC236}">
                <a16:creationId xmlns:a16="http://schemas.microsoft.com/office/drawing/2014/main" id="{F242BACF-256D-4049-A1ED-4447112D1031}"/>
              </a:ext>
            </a:extLst>
          </p:cNvPr>
          <p:cNvSpPr>
            <a:spLocks noGrp="1"/>
          </p:cNvSpPr>
          <p:nvPr/>
        </p:nvSpPr>
        <p:spPr>
          <a:xfrm>
            <a:off x="6657975" y="4362450"/>
            <a:ext cx="152400" cy="152400"/>
          </a:xfrm>
          <a:prstGeom prst="triangl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0089DAF-3CCE-4396-AC69-86FC1AAB830D}"/>
              </a:ext>
            </a:extLst>
          </p:cNvPr>
          <p:cNvSpPr>
            <a:spLocks noGrp="1"/>
          </p:cNvSpPr>
          <p:nvPr/>
        </p:nvSpPr>
        <p:spPr>
          <a:xfrm>
            <a:off x="8382000" y="4438650"/>
            <a:ext cx="1619250" cy="381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三角形 29">
            <a:extLst>
              <a:ext uri="{FF2B5EF4-FFF2-40B4-BE49-F238E27FC236}">
                <a16:creationId xmlns:a16="http://schemas.microsoft.com/office/drawing/2014/main" id="{F239FC45-C6A4-4FE7-A97D-9519F0792000}"/>
              </a:ext>
            </a:extLst>
          </p:cNvPr>
          <p:cNvSpPr>
            <a:spLocks noGrp="1"/>
          </p:cNvSpPr>
          <p:nvPr/>
        </p:nvSpPr>
        <p:spPr>
          <a:xfrm>
            <a:off x="9944100" y="4362450"/>
            <a:ext cx="152400" cy="152400"/>
          </a:xfrm>
          <a:prstGeom prst="triangle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A4E4816-120A-4EFA-9885-CFA42CB84ECD}"/>
              </a:ext>
            </a:extLst>
          </p:cNvPr>
          <p:cNvSpPr>
            <a:spLocks noGrp="1"/>
          </p:cNvSpPr>
          <p:nvPr/>
        </p:nvSpPr>
        <p:spPr>
          <a:xfrm>
            <a:off x="3000375" y="4857750"/>
            <a:ext cx="6191250" cy="361950"/>
          </a:xfrm>
          <a:prstGeom prst="rect">
            <a:avLst/>
          </a:prstGeom>
          <a:solidFill>
            <a:srgbClr val="FFF0E4"/>
          </a:solidFill>
          <a:ln w="9525">
            <a:solidFill>
              <a:srgbClr val="E8C7A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225A96-0B7A-4133-9ADD-D2BF1B58FBE5}"/>
              </a:ext>
            </a:extLst>
          </p:cNvPr>
          <p:cNvSpPr>
            <a:spLocks noGrp="1"/>
          </p:cNvSpPr>
          <p:nvPr/>
        </p:nvSpPr>
        <p:spPr>
          <a:xfrm>
            <a:off x="3133725" y="4933950"/>
            <a:ext cx="592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再進入共同題：調味、主出汁、濃淡、麵體、標誌元素、不吃/過敏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DC83B2-88B5-444C-8D96-7570C2368AA3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Frozen Decisions / Question Model。</a:t>
            </a:r>
          </a:p>
        </p:txBody>
      </p:sp>
    </p:spTree>
    <p:extLst>
      <p:ext uri="{BB962C8B-B14F-4D97-AF65-F5344CB8AC3E}">
        <p14:creationId xmlns:p14="http://schemas.microsoft.com/office/powerpoint/2010/main" val="33439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891F47B2-3F9F-44C1-92A8-0C1C6A275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1B476A-AFD0-45DD-A65A-D8CE154D2B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C23820-460B-41A5-85E8-0C0A7D7239C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57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5738"/>
                </a:solidFill>
                <a:latin typeface="Aptos"/>
                <a:ea typeface="Aptos"/>
                <a:cs typeface="Aptos"/>
              </a:rPr>
              <a:t>二、公正地分類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E57B85-8C2D-4EB8-8C48-C37135FE1D18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86BAAE-A74E-4A6D-87BC-C95C453A2F7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公平分類的核心：先算口味，再處理安全排除，最後才掛商家資料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9AA16E-F893-42AB-BA6A-3602CFCD50B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這三件事不能混在一起，否則會變成商家或資料覆蓋使用者偏好。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C5DB25-BEFA-46E1-AE68-066BEC0E03BA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2476500" cy="1219200"/>
          </a:xfrm>
          <a:prstGeom prst="rect">
            <a:avLst/>
          </a:prstGeom>
          <a:solidFill>
            <a:srgbClr val="FFF0E4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7D0621-A69C-4684-A2CB-F834E6A039C4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66675" cy="12192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636D4D-DCE2-48C6-8233-29C895DF51CA}"/>
              </a:ext>
            </a:extLst>
          </p:cNvPr>
          <p:cNvSpPr>
            <a:spLocks noGrp="1"/>
          </p:cNvSpPr>
          <p:nvPr/>
        </p:nvSpPr>
        <p:spPr>
          <a:xfrm>
            <a:off x="971550" y="253365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偏好答案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9B8C51-787B-407E-817A-B7BE9896CC78}"/>
              </a:ext>
            </a:extLst>
          </p:cNvPr>
          <p:cNvSpPr>
            <a:spLocks noGrp="1"/>
          </p:cNvSpPr>
          <p:nvPr/>
        </p:nvSpPr>
        <p:spPr>
          <a:xfrm>
            <a:off x="971550" y="2857500"/>
            <a:ext cx="2133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使用者今天想吃的形式、湯底、調味、濃淡、麵體與標誌元素。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028EB9-9BD3-4523-821E-47AB71BF2CD2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685800" cy="381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C0266AF8-9CBB-4DDD-8A30-9C93B07E5DC8}"/>
              </a:ext>
            </a:extLst>
          </p:cNvPr>
          <p:cNvSpPr>
            <a:spLocks noGrp="1"/>
          </p:cNvSpPr>
          <p:nvPr/>
        </p:nvSpPr>
        <p:spPr>
          <a:xfrm>
            <a:off x="4057650" y="2876550"/>
            <a:ext cx="152400" cy="152400"/>
          </a:xfrm>
          <a:prstGeom prst="triangle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FB87AC-E458-4839-AA69-6C2AF95CE87E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2857500" cy="121920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E285CF-4F43-4822-B700-DA63AF0ADC76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66675" cy="12192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317550-90FE-472B-AFC0-693899BA8C0A}"/>
              </a:ext>
            </a:extLst>
          </p:cNvPr>
          <p:cNvSpPr>
            <a:spLocks noGrp="1"/>
          </p:cNvSpPr>
          <p:nvPr/>
        </p:nvSpPr>
        <p:spPr>
          <a:xfrm>
            <a:off x="4533900" y="2533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風格計分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B283E5-7A22-4437-B568-CA55BD1C9DB9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2514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用 54 個 core types 先計分，再收斂成 18 個前台風格 Top 3。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332657-6BC1-45C5-A123-DCE92E66E2CB}"/>
              </a:ext>
            </a:extLst>
          </p:cNvPr>
          <p:cNvSpPr>
            <a:spLocks noGrp="1"/>
          </p:cNvSpPr>
          <p:nvPr/>
        </p:nvSpPr>
        <p:spPr>
          <a:xfrm>
            <a:off x="7372350" y="2952750"/>
            <a:ext cx="685800" cy="381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609D9220-5D7A-4B12-991B-6D40EC3D3ACE}"/>
              </a:ext>
            </a:extLst>
          </p:cNvPr>
          <p:cNvSpPr>
            <a:spLocks noGrp="1"/>
          </p:cNvSpPr>
          <p:nvPr/>
        </p:nvSpPr>
        <p:spPr>
          <a:xfrm>
            <a:off x="8001000" y="2876550"/>
            <a:ext cx="152400" cy="152400"/>
          </a:xfrm>
          <a:prstGeom prst="triangle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0A21E0-C348-4682-B8B8-79043D8ECDC2}"/>
              </a:ext>
            </a:extLst>
          </p:cNvPr>
          <p:cNvSpPr>
            <a:spLocks noGrp="1"/>
          </p:cNvSpPr>
          <p:nvPr/>
        </p:nvSpPr>
        <p:spPr>
          <a:xfrm>
            <a:off x="8286750" y="2381250"/>
            <a:ext cx="2667000" cy="121920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E0B6EA-051D-4ABF-B040-632FA5642554}"/>
              </a:ext>
            </a:extLst>
          </p:cNvPr>
          <p:cNvSpPr>
            <a:spLocks noGrp="1"/>
          </p:cNvSpPr>
          <p:nvPr/>
        </p:nvSpPr>
        <p:spPr>
          <a:xfrm>
            <a:off x="8286750" y="2381250"/>
            <a:ext cx="66675" cy="12192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924D79-EC48-47B1-A3CD-21581D34FEAB}"/>
              </a:ext>
            </a:extLst>
          </p:cNvPr>
          <p:cNvSpPr>
            <a:spLocks noGrp="1"/>
          </p:cNvSpPr>
          <p:nvPr/>
        </p:nvSpPr>
        <p:spPr>
          <a:xfrm>
            <a:off x="8477250" y="253365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可解釋結果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C54123-97C4-42DA-993D-BAC2799B51B9}"/>
              </a:ext>
            </a:extLst>
          </p:cNvPr>
          <p:cNvSpPr>
            <a:spLocks noGrp="1"/>
          </p:cNvSpPr>
          <p:nvPr/>
        </p:nvSpPr>
        <p:spPr>
          <a:xfrm>
            <a:off x="8477250" y="2857500"/>
            <a:ext cx="23241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信心分數、口味輪廓、加扣分原因、每題命中理由。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5FE040-5841-40A0-8E42-A8C061F413ED}"/>
              </a:ext>
            </a:extLst>
          </p:cNvPr>
          <p:cNvSpPr>
            <a:spLocks noGrp="1"/>
          </p:cNvSpPr>
          <p:nvPr/>
        </p:nvSpPr>
        <p:spPr>
          <a:xfrm>
            <a:off x="1809750" y="4400550"/>
            <a:ext cx="3143250" cy="1028700"/>
          </a:xfrm>
          <a:prstGeom prst="rect">
            <a:avLst/>
          </a:prstGeom>
          <a:solidFill>
            <a:srgbClr val="FFF0EF"/>
          </a:solidFill>
          <a:ln w="9525">
            <a:solidFill>
              <a:srgbClr val="E9BAB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D8324-739E-46C0-A606-851CC31DD0FC}"/>
              </a:ext>
            </a:extLst>
          </p:cNvPr>
          <p:cNvSpPr>
            <a:spLocks noGrp="1"/>
          </p:cNvSpPr>
          <p:nvPr/>
        </p:nvSpPr>
        <p:spPr>
          <a:xfrm>
            <a:off x="1809750" y="4400550"/>
            <a:ext cx="66675" cy="1028700"/>
          </a:xfrm>
          <a:prstGeom prst="rect">
            <a:avLst/>
          </a:prstGeom>
          <a:solidFill>
            <a:srgbClr val="A6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E3CD87-6BF1-47CA-ABC7-28DAA1A84A15}"/>
              </a:ext>
            </a:extLst>
          </p:cNvPr>
          <p:cNvSpPr>
            <a:spLocks noGrp="1"/>
          </p:cNvSpPr>
          <p:nvPr/>
        </p:nvSpPr>
        <p:spPr>
          <a:xfrm>
            <a:off x="2000250" y="45529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硬性排除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B7CA04-B714-48CC-9AC7-E5211D534AC3}"/>
              </a:ext>
            </a:extLst>
          </p:cNvPr>
          <p:cNvSpPr>
            <a:spLocks noGrp="1"/>
          </p:cNvSpPr>
          <p:nvPr/>
        </p:nvSpPr>
        <p:spPr>
          <a:xfrm>
            <a:off x="2000250" y="4876800"/>
            <a:ext cx="2800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Q8 只做阻擋，不拿來加權。過敏或不吃的食材優先於偏好。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D735508-608E-4E68-B220-3812BD1DA093}"/>
              </a:ext>
            </a:extLst>
          </p:cNvPr>
          <p:cNvSpPr>
            <a:spLocks noGrp="1"/>
          </p:cNvSpPr>
          <p:nvPr/>
        </p:nvSpPr>
        <p:spPr>
          <a:xfrm>
            <a:off x="6381750" y="4400550"/>
            <a:ext cx="3143250" cy="1028700"/>
          </a:xfrm>
          <a:prstGeom prst="rect">
            <a:avLst/>
          </a:prstGeom>
          <a:solidFill>
            <a:srgbClr val="FFF9EF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DD0A14-7625-478D-956E-CF573B2CD59A}"/>
              </a:ext>
            </a:extLst>
          </p:cNvPr>
          <p:cNvSpPr>
            <a:spLocks noGrp="1"/>
          </p:cNvSpPr>
          <p:nvPr/>
        </p:nvSpPr>
        <p:spPr>
          <a:xfrm>
            <a:off x="6381750" y="4400550"/>
            <a:ext cx="66675" cy="10287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D03955-23F4-4667-B1BE-0B062D62862F}"/>
              </a:ext>
            </a:extLst>
          </p:cNvPr>
          <p:cNvSpPr>
            <a:spLocks noGrp="1"/>
          </p:cNvSpPr>
          <p:nvPr/>
        </p:nvSpPr>
        <p:spPr>
          <a:xfrm>
            <a:off x="6572250" y="45529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Catalog enrichment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0FC72E-2A7C-47C0-8FC1-52D026D93451}"/>
              </a:ext>
            </a:extLst>
          </p:cNvPr>
          <p:cNvSpPr>
            <a:spLocks noGrp="1"/>
          </p:cNvSpPr>
          <p:nvPr/>
        </p:nvSpPr>
        <p:spPr>
          <a:xfrm>
            <a:off x="6572250" y="4876800"/>
            <a:ext cx="2800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店家 / 品項不參與風格計分，只在結果後補上對應資料。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6993502-B8A8-4046-BEC5-C6E8BC68B9ED}"/>
              </a:ext>
            </a:extLst>
          </p:cNvPr>
          <p:cNvSpPr>
            <a:spLocks noGrp="1"/>
          </p:cNvSpPr>
          <p:nvPr/>
        </p:nvSpPr>
        <p:spPr>
          <a:xfrm>
            <a:off x="2000250" y="5753100"/>
            <a:ext cx="7429500" cy="361950"/>
          </a:xfrm>
          <a:prstGeom prst="rect">
            <a:avLst/>
          </a:prstGeom>
          <a:solidFill>
            <a:srgbClr val="121826"/>
          </a:solidFill>
          <a:ln w="9525">
            <a:solidFill>
              <a:srgbClr val="12182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29F4D27-CDDE-48F5-901F-D829401E5031}"/>
              </a:ext>
            </a:extLst>
          </p:cNvPr>
          <p:cNvSpPr>
            <a:spLocks noGrp="1"/>
          </p:cNvSpPr>
          <p:nvPr/>
        </p:nvSpPr>
        <p:spPr>
          <a:xfrm>
            <a:off x="2133600" y="5829300"/>
            <a:ext cx="7162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公正的意思：分類規則先獨立完成，商業資料不能反過來改變答案。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DE9338-92CA-4FEB-898A-89A8F99136CC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Frozen Decisions 4 / 6。</a:t>
            </a:r>
          </a:p>
        </p:txBody>
      </p:sp>
    </p:spTree>
    <p:extLst>
      <p:ext uri="{BB962C8B-B14F-4D97-AF65-F5344CB8AC3E}">
        <p14:creationId xmlns:p14="http://schemas.microsoft.com/office/powerpoint/2010/main" val="164362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4525E736-BD03-49DC-B618-640DEC0643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408D72-36B2-47CB-BE04-3C9CABA7F4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F59B04-90AD-483A-BA7B-6488ECB11FE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57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5738"/>
                </a:solidFill>
                <a:latin typeface="Aptos"/>
                <a:ea typeface="Aptos"/>
                <a:cs typeface="Aptos"/>
              </a:rPr>
              <a:t>二、公正地分類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3F64C8-D7BA-4B82-98E1-CBB2611B1FD3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0B6E4D-2F7C-45B5-993F-4465A81E02E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題目有不同權重：越能決定風格，影響越大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2C3862-99F3-459C-9BB2-55532511AFE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這裡的比重是演算法內部的判斷強度，不是把所有答案平均投票。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A172F-85E9-46B6-A9EB-5529AC5B131E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Q1 形式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F8C56D-CA34-40B2-8577-59CC17412DDC}"/>
              </a:ext>
            </a:extLst>
          </p:cNvPr>
          <p:cNvSpPr>
            <a:spLocks noGrp="1"/>
          </p:cNvSpPr>
          <p:nvPr/>
        </p:nvSpPr>
        <p:spPr>
          <a:xfrm>
            <a:off x="2628900" y="225742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955953-FD57-456E-B47F-D0DCCB7841C7}"/>
              </a:ext>
            </a:extLst>
          </p:cNvPr>
          <p:cNvSpPr>
            <a:spLocks noGrp="1"/>
          </p:cNvSpPr>
          <p:nvPr/>
        </p:nvSpPr>
        <p:spPr>
          <a:xfrm>
            <a:off x="2628900" y="2257425"/>
            <a:ext cx="3638550" cy="13335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220503-0093-4E29-9552-1AA3393894FD}"/>
              </a:ext>
            </a:extLst>
          </p:cNvPr>
          <p:cNvSpPr>
            <a:spLocks noGrp="1"/>
          </p:cNvSpPr>
          <p:nvPr/>
        </p:nvSpPr>
        <p:spPr>
          <a:xfrm>
            <a:off x="6819900" y="21907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857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573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E7BBBC-1679-415A-8CEA-0A77B798F007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Q2 輪廓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FBE118-A3D1-43FB-9EA2-C3A2F931DE70}"/>
              </a:ext>
            </a:extLst>
          </p:cNvPr>
          <p:cNvSpPr>
            <a:spLocks noGrp="1"/>
          </p:cNvSpPr>
          <p:nvPr/>
        </p:nvSpPr>
        <p:spPr>
          <a:xfrm>
            <a:off x="2628900" y="265747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0ADA7B-F15D-43C5-AB8E-981BC989D5FA}"/>
              </a:ext>
            </a:extLst>
          </p:cNvPr>
          <p:cNvSpPr>
            <a:spLocks noGrp="1"/>
          </p:cNvSpPr>
          <p:nvPr/>
        </p:nvSpPr>
        <p:spPr>
          <a:xfrm>
            <a:off x="2628900" y="2657475"/>
            <a:ext cx="3638550" cy="13335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2C315F-5BA0-4281-9916-BD4112639C23}"/>
              </a:ext>
            </a:extLst>
          </p:cNvPr>
          <p:cNvSpPr>
            <a:spLocks noGrp="1"/>
          </p:cNvSpPr>
          <p:nvPr/>
        </p:nvSpPr>
        <p:spPr>
          <a:xfrm>
            <a:off x="6819900" y="25908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857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573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1650BF-62F7-4017-B5BD-EF371DDF0308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Q3 調味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DD4033-BC90-43DA-9619-B0E3B7AB0D26}"/>
              </a:ext>
            </a:extLst>
          </p:cNvPr>
          <p:cNvSpPr>
            <a:spLocks noGrp="1"/>
          </p:cNvSpPr>
          <p:nvPr/>
        </p:nvSpPr>
        <p:spPr>
          <a:xfrm>
            <a:off x="2628900" y="305752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CD1586-3CDB-4119-AAD0-1E01E19F5716}"/>
              </a:ext>
            </a:extLst>
          </p:cNvPr>
          <p:cNvSpPr>
            <a:spLocks noGrp="1"/>
          </p:cNvSpPr>
          <p:nvPr/>
        </p:nvSpPr>
        <p:spPr>
          <a:xfrm>
            <a:off x="2628900" y="3057525"/>
            <a:ext cx="3409950" cy="13335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CBAC5D-FC4F-489F-9A24-E07BAE32EB1E}"/>
              </a:ext>
            </a:extLst>
          </p:cNvPr>
          <p:cNvSpPr>
            <a:spLocks noGrp="1"/>
          </p:cNvSpPr>
          <p:nvPr/>
        </p:nvSpPr>
        <p:spPr>
          <a:xfrm>
            <a:off x="6819900" y="2990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23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245DFC-AF61-4843-8B37-79872FF7A6A2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Q4 主出汁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5E6F87-3ED5-4355-AD9B-39638128AD56}"/>
              </a:ext>
            </a:extLst>
          </p:cNvPr>
          <p:cNvSpPr>
            <a:spLocks noGrp="1"/>
          </p:cNvSpPr>
          <p:nvPr/>
        </p:nvSpPr>
        <p:spPr>
          <a:xfrm>
            <a:off x="2628900" y="345757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CD955C-E2E1-472E-9AB0-9B7A12FBA65A}"/>
              </a:ext>
            </a:extLst>
          </p:cNvPr>
          <p:cNvSpPr>
            <a:spLocks noGrp="1"/>
          </p:cNvSpPr>
          <p:nvPr/>
        </p:nvSpPr>
        <p:spPr>
          <a:xfrm>
            <a:off x="2628900" y="3457575"/>
            <a:ext cx="4095750" cy="133350"/>
          </a:xfrm>
          <a:prstGeom prst="rect">
            <a:avLst/>
          </a:prstGeom>
          <a:solidFill>
            <a:srgbClr val="A6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D39B31-8EAF-4AA5-877B-B458A84B9F8B}"/>
              </a:ext>
            </a:extLst>
          </p:cNvPr>
          <p:cNvSpPr>
            <a:spLocks noGrp="1"/>
          </p:cNvSpPr>
          <p:nvPr/>
        </p:nvSpPr>
        <p:spPr>
          <a:xfrm>
            <a:off x="6819900" y="33909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40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403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8B15E1-3CCF-42A3-A232-0C93EE04B4C1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Q5 濃淡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A11C1E-3FC0-4C2E-923F-4F0ED1256635}"/>
              </a:ext>
            </a:extLst>
          </p:cNvPr>
          <p:cNvSpPr>
            <a:spLocks noGrp="1"/>
          </p:cNvSpPr>
          <p:nvPr/>
        </p:nvSpPr>
        <p:spPr>
          <a:xfrm>
            <a:off x="2628900" y="385762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6CA68B-6FE5-4067-B1D8-164447D10B1C}"/>
              </a:ext>
            </a:extLst>
          </p:cNvPr>
          <p:cNvSpPr>
            <a:spLocks noGrp="1"/>
          </p:cNvSpPr>
          <p:nvPr/>
        </p:nvSpPr>
        <p:spPr>
          <a:xfrm>
            <a:off x="2628900" y="3857625"/>
            <a:ext cx="3181350" cy="1333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19F740-98A1-4D40-A788-673F7EDB4F46}"/>
              </a:ext>
            </a:extLst>
          </p:cNvPr>
          <p:cNvSpPr>
            <a:spLocks noGrp="1"/>
          </p:cNvSpPr>
          <p:nvPr/>
        </p:nvSpPr>
        <p:spPr>
          <a:xfrm>
            <a:off x="6819900" y="37909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B7A6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7A6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71096B6-977D-43C1-8393-C0A606A7B875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Q6 麵體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06B817C-ABD1-4EE9-9CA4-0048937609C4}"/>
              </a:ext>
            </a:extLst>
          </p:cNvPr>
          <p:cNvSpPr>
            <a:spLocks noGrp="1"/>
          </p:cNvSpPr>
          <p:nvPr/>
        </p:nvSpPr>
        <p:spPr>
          <a:xfrm>
            <a:off x="2628900" y="425767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A9B291-0912-4412-8649-7C32BC2B6A78}"/>
              </a:ext>
            </a:extLst>
          </p:cNvPr>
          <p:cNvSpPr>
            <a:spLocks noGrp="1"/>
          </p:cNvSpPr>
          <p:nvPr/>
        </p:nvSpPr>
        <p:spPr>
          <a:xfrm>
            <a:off x="2628900" y="4257675"/>
            <a:ext cx="2505075" cy="1333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9828DF1-5039-4744-B394-0344FC9FDDBC}"/>
              </a:ext>
            </a:extLst>
          </p:cNvPr>
          <p:cNvSpPr>
            <a:spLocks noGrp="1"/>
          </p:cNvSpPr>
          <p:nvPr/>
        </p:nvSpPr>
        <p:spPr>
          <a:xfrm>
            <a:off x="6819900" y="4191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5F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DD34691-41EB-4ACC-9EAB-BE66C3A48E16}"/>
              </a:ext>
            </a:extLst>
          </p:cNvPr>
          <p:cNvSpPr>
            <a:spLocks noGrp="1"/>
          </p:cNvSpPr>
          <p:nvPr/>
        </p:nvSpPr>
        <p:spPr>
          <a:xfrm>
            <a:off x="819150" y="45910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Q7 標誌元素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75D933-2A3D-4B95-A6F9-4516DCA76B07}"/>
              </a:ext>
            </a:extLst>
          </p:cNvPr>
          <p:cNvSpPr>
            <a:spLocks noGrp="1"/>
          </p:cNvSpPr>
          <p:nvPr/>
        </p:nvSpPr>
        <p:spPr>
          <a:xfrm>
            <a:off x="2628900" y="465772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9DD12CC-BAF7-4B8E-9F24-31CD253F4873}"/>
              </a:ext>
            </a:extLst>
          </p:cNvPr>
          <p:cNvSpPr>
            <a:spLocks noGrp="1"/>
          </p:cNvSpPr>
          <p:nvPr/>
        </p:nvSpPr>
        <p:spPr>
          <a:xfrm>
            <a:off x="2628900" y="4657725"/>
            <a:ext cx="2276475" cy="1333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00CE833-CFC4-4EA8-B43F-D637A866B9CF}"/>
              </a:ext>
            </a:extLst>
          </p:cNvPr>
          <p:cNvSpPr>
            <a:spLocks noGrp="1"/>
          </p:cNvSpPr>
          <p:nvPr/>
        </p:nvSpPr>
        <p:spPr>
          <a:xfrm>
            <a:off x="6819900" y="4591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5F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74C3E9F-B13F-4FD9-93E7-DAECFF995BEB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Q8 排除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55904D-3288-45A4-BD1D-117B6E21E447}"/>
              </a:ext>
            </a:extLst>
          </p:cNvPr>
          <p:cNvSpPr>
            <a:spLocks noGrp="1"/>
          </p:cNvSpPr>
          <p:nvPr/>
        </p:nvSpPr>
        <p:spPr>
          <a:xfrm>
            <a:off x="2628900" y="5057775"/>
            <a:ext cx="4095750" cy="133350"/>
          </a:xfrm>
          <a:prstGeom prst="rect">
            <a:avLst/>
          </a:prstGeom>
          <a:solidFill>
            <a:srgbClr val="E8D8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69266B-ABCC-4B3C-B118-045D77EE9D4A}"/>
              </a:ext>
            </a:extLst>
          </p:cNvPr>
          <p:cNvSpPr>
            <a:spLocks noGrp="1"/>
          </p:cNvSpPr>
          <p:nvPr/>
        </p:nvSpPr>
        <p:spPr>
          <a:xfrm>
            <a:off x="2628900" y="5057775"/>
            <a:ext cx="0" cy="1333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40171EB-C436-4527-A314-98C0E26A109D}"/>
              </a:ext>
            </a:extLst>
          </p:cNvPr>
          <p:cNvSpPr>
            <a:spLocks noGrp="1"/>
          </p:cNvSpPr>
          <p:nvPr/>
        </p:nvSpPr>
        <p:spPr>
          <a:xfrm>
            <a:off x="6819900" y="4991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28F9079-DC3B-4097-B8F0-C3EA436D1959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3048000" cy="150495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758B7BE-3121-4B77-A309-773AC791B97D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66675" cy="15049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F5F41F7-559F-4F74-8E51-2F5797106B9E}"/>
              </a:ext>
            </a:extLst>
          </p:cNvPr>
          <p:cNvSpPr>
            <a:spLocks noGrp="1"/>
          </p:cNvSpPr>
          <p:nvPr/>
        </p:nvSpPr>
        <p:spPr>
          <a:xfrm>
            <a:off x="7429500" y="2305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命中四級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3A5F51C-6D9B-45B0-89DE-F73FDCD4675D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27051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完全符合：1.0</a:t>
            </a:r>
          </a:p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相近：0.6</a:t>
            </a:r>
          </a:p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部分相關：0.4</a:t>
            </a:r>
          </a:p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不相關：0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D271E7-1DEE-48B4-892B-48829515466F}"/>
              </a:ext>
            </a:extLst>
          </p:cNvPr>
          <p:cNvSpPr>
            <a:spLocks noGrp="1"/>
          </p:cNvSpPr>
          <p:nvPr/>
        </p:nvSpPr>
        <p:spPr>
          <a:xfrm>
            <a:off x="7239000" y="4000500"/>
            <a:ext cx="3048000" cy="1047750"/>
          </a:xfrm>
          <a:prstGeom prst="rect">
            <a:avLst/>
          </a:prstGeom>
          <a:solidFill>
            <a:srgbClr val="FFF0EF"/>
          </a:solidFill>
          <a:ln w="9525">
            <a:solidFill>
              <a:srgbClr val="E9BAB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9B0BBD5-B285-4F7C-B040-0C3F81670D0D}"/>
              </a:ext>
            </a:extLst>
          </p:cNvPr>
          <p:cNvSpPr>
            <a:spLocks noGrp="1"/>
          </p:cNvSpPr>
          <p:nvPr/>
        </p:nvSpPr>
        <p:spPr>
          <a:xfrm>
            <a:off x="7239000" y="4000500"/>
            <a:ext cx="66675" cy="1047750"/>
          </a:xfrm>
          <a:prstGeom prst="rect">
            <a:avLst/>
          </a:prstGeom>
          <a:solidFill>
            <a:srgbClr val="A6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628DFBC-721C-4ABB-BADD-5DEDBC54FA10}"/>
              </a:ext>
            </a:extLst>
          </p:cNvPr>
          <p:cNvSpPr>
            <a:spLocks noGrp="1"/>
          </p:cNvSpPr>
          <p:nvPr/>
        </p:nvSpPr>
        <p:spPr>
          <a:xfrm>
            <a:off x="7429500" y="41529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核心公式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E2A7186-8DF1-45FD-A3E6-4816E4CF3113}"/>
              </a:ext>
            </a:extLst>
          </p:cNvPr>
          <p:cNvSpPr>
            <a:spLocks noGrp="1"/>
          </p:cNvSpPr>
          <p:nvPr/>
        </p:nvSpPr>
        <p:spPr>
          <a:xfrm>
            <a:off x="7429500" y="4476750"/>
            <a:ext cx="2705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core type 分數 = 題目權重 × 命中程度 + 加分 - 扣分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FBFE6F9-A05D-4251-AA23-EDE47F752E02}"/>
              </a:ext>
            </a:extLst>
          </p:cNvPr>
          <p:cNvSpPr>
            <a:spLocks noGrp="1"/>
          </p:cNvSpPr>
          <p:nvPr/>
        </p:nvSpPr>
        <p:spPr>
          <a:xfrm>
            <a:off x="6762750" y="5429250"/>
            <a:ext cx="4095750" cy="457200"/>
          </a:xfrm>
          <a:prstGeom prst="rect">
            <a:avLst/>
          </a:prstGeom>
          <a:solidFill>
            <a:srgbClr val="121826"/>
          </a:solidFill>
          <a:ln w="9525">
            <a:solidFill>
              <a:srgbClr val="12182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173A9B1-C747-4F2F-9835-7781E1110058}"/>
              </a:ext>
            </a:extLst>
          </p:cNvPr>
          <p:cNvSpPr>
            <a:spLocks noGrp="1"/>
          </p:cNvSpPr>
          <p:nvPr/>
        </p:nvSpPr>
        <p:spPr>
          <a:xfrm>
            <a:off x="6896100" y="5505450"/>
            <a:ext cx="3829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使用者版說法：每個答案都在告訴系統「我今天靠近哪種拉麵」。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A1E1B84-47C7-4EBA-92A8-E055E998ECDA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Question Model / Scoring。</a:t>
            </a:r>
          </a:p>
        </p:txBody>
      </p:sp>
    </p:spTree>
    <p:extLst>
      <p:ext uri="{BB962C8B-B14F-4D97-AF65-F5344CB8AC3E}">
        <p14:creationId xmlns:p14="http://schemas.microsoft.com/office/powerpoint/2010/main" val="201738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0C26934-9990-4840-A016-D25DA20299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78832B-F2F1-4339-B4B9-E511489444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AAA201-1898-41E2-AC3E-ECCB1F3A642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57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5738"/>
                </a:solidFill>
                <a:latin typeface="Aptos"/>
                <a:ea typeface="Aptos"/>
                <a:cs typeface="Aptos"/>
              </a:rPr>
              <a:t>二、公正地分類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4BF7EB-B40E-426A-98A1-42D3F54FFE49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7B8EC6-72B9-417A-85B2-28A28E7201A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公正不是只靠公式，還要靠防呆規則與測試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5C2AD5-C0B7-4DD5-8CEE-7C32A8DD8C9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避免單一答案、商家資料或特殊衝突把結果推歪。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0433A2-2148-4403-BA7F-8AB7BDC45FC9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2895600" cy="1123950"/>
          </a:xfrm>
          <a:prstGeom prst="rect">
            <a:avLst/>
          </a:prstGeom>
          <a:solidFill>
            <a:srgbClr val="FFF0E4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474D48-9260-45E8-AF1B-61504C7A8F41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66675" cy="112395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F22008-4E0D-4A00-B8ED-B8C728DE84E1}"/>
              </a:ext>
            </a:extLst>
          </p:cNvPr>
          <p:cNvSpPr>
            <a:spLocks noGrp="1"/>
          </p:cNvSpPr>
          <p:nvPr/>
        </p:nvSpPr>
        <p:spPr>
          <a:xfrm>
            <a:off x="1104900" y="24003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資料分流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93B4B6-D091-4BF6-9E3D-BA38E53E0294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Q1 只影響 Q2；Q3 到 Q8 永遠出現，避免少問關鍵問題。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BE0466-E65D-4AC4-A35A-DBFD599FF6F9}"/>
              </a:ext>
            </a:extLst>
          </p:cNvPr>
          <p:cNvSpPr>
            <a:spLocks noGrp="1"/>
          </p:cNvSpPr>
          <p:nvPr/>
        </p:nvSpPr>
        <p:spPr>
          <a:xfrm>
            <a:off x="4438650" y="2247900"/>
            <a:ext cx="2895600" cy="1123950"/>
          </a:xfrm>
          <a:prstGeom prst="rect">
            <a:avLst/>
          </a:prstGeom>
          <a:solidFill>
            <a:srgbClr val="FFF0EF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2D6DBC-7CD9-4B9B-A488-F7BBEF267CE9}"/>
              </a:ext>
            </a:extLst>
          </p:cNvPr>
          <p:cNvSpPr>
            <a:spLocks noGrp="1"/>
          </p:cNvSpPr>
          <p:nvPr/>
        </p:nvSpPr>
        <p:spPr>
          <a:xfrm>
            <a:off x="4438650" y="2247900"/>
            <a:ext cx="66675" cy="1123950"/>
          </a:xfrm>
          <a:prstGeom prst="rect">
            <a:avLst/>
          </a:prstGeom>
          <a:solidFill>
            <a:srgbClr val="A6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FCB3F4-A3CA-4ACE-8412-2D7B36109B1B}"/>
              </a:ext>
            </a:extLst>
          </p:cNvPr>
          <p:cNvSpPr>
            <a:spLocks noGrp="1"/>
          </p:cNvSpPr>
          <p:nvPr/>
        </p:nvSpPr>
        <p:spPr>
          <a:xfrm>
            <a:off x="4629150" y="24003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硬性排除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4AFD16-4CD8-4ABD-85D1-FD95AF3081A1}"/>
              </a:ext>
            </a:extLst>
          </p:cNvPr>
          <p:cNvSpPr>
            <a:spLocks noGrp="1"/>
          </p:cNvSpPr>
          <p:nvPr/>
        </p:nvSpPr>
        <p:spPr>
          <a:xfrm>
            <a:off x="4629150" y="27241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不吃或過敏先阻擋，不參與口味加權。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D3A0A0-1B34-492B-92BE-8FBE7FE5DF1E}"/>
              </a:ext>
            </a:extLst>
          </p:cNvPr>
          <p:cNvSpPr>
            <a:spLocks noGrp="1"/>
          </p:cNvSpPr>
          <p:nvPr/>
        </p:nvSpPr>
        <p:spPr>
          <a:xfrm>
            <a:off x="7962900" y="2247900"/>
            <a:ext cx="2895600" cy="1123950"/>
          </a:xfrm>
          <a:prstGeom prst="rect">
            <a:avLst/>
          </a:prstGeom>
          <a:solidFill>
            <a:srgbClr val="FFF9EF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08E4057-107D-402D-AFCD-84AEE3401304}"/>
              </a:ext>
            </a:extLst>
          </p:cNvPr>
          <p:cNvSpPr>
            <a:spLocks noGrp="1"/>
          </p:cNvSpPr>
          <p:nvPr/>
        </p:nvSpPr>
        <p:spPr>
          <a:xfrm>
            <a:off x="7962900" y="2247900"/>
            <a:ext cx="66675" cy="112395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09721D-EFA1-48DA-98F1-C336322C9256}"/>
              </a:ext>
            </a:extLst>
          </p:cNvPr>
          <p:cNvSpPr>
            <a:spLocks noGrp="1"/>
          </p:cNvSpPr>
          <p:nvPr/>
        </p:nvSpPr>
        <p:spPr>
          <a:xfrm>
            <a:off x="8153400" y="24003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衝突修正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570A6A-4A9B-404F-ABA3-250E0D6CC791}"/>
              </a:ext>
            </a:extLst>
          </p:cNvPr>
          <p:cNvSpPr>
            <a:spLocks noGrp="1"/>
          </p:cNvSpPr>
          <p:nvPr/>
        </p:nvSpPr>
        <p:spPr>
          <a:xfrm>
            <a:off x="8153400" y="27241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例如二郎遇到柚子訊號扣分，避免荒謬推薦。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0A3E2D-6CBC-420B-9631-3DED5769A907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2895600" cy="1123950"/>
          </a:xfrm>
          <a:prstGeom prst="rect">
            <a:avLst/>
          </a:prstGeom>
          <a:solidFill>
            <a:srgbClr val="EAF6F0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9F4995-DDBB-4A05-A80B-AB3B9CC1A0EB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66675" cy="11239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BEAD79-6BC4-40C8-A821-25363CE29E25}"/>
              </a:ext>
            </a:extLst>
          </p:cNvPr>
          <p:cNvSpPr>
            <a:spLocks noGrp="1"/>
          </p:cNvSpPr>
          <p:nvPr/>
        </p:nvSpPr>
        <p:spPr>
          <a:xfrm>
            <a:off x="1104900" y="40767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多題成立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0D4744-400D-4929-9125-43360ECDC4C2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家系 bonus 需要形式、湯底、調味、濃淡、麵體、標誌一起支持。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8724C4-4A0B-4176-AFC7-91EE9529F00E}"/>
              </a:ext>
            </a:extLst>
          </p:cNvPr>
          <p:cNvSpPr>
            <a:spLocks noGrp="1"/>
          </p:cNvSpPr>
          <p:nvPr/>
        </p:nvSpPr>
        <p:spPr>
          <a:xfrm>
            <a:off x="4438650" y="3924300"/>
            <a:ext cx="2895600" cy="1123950"/>
          </a:xfrm>
          <a:prstGeom prst="rect">
            <a:avLst/>
          </a:prstGeom>
          <a:solidFill>
            <a:srgbClr val="EAF1FB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4B4C45-800F-4C69-BB2A-FD4C9D4A6D96}"/>
              </a:ext>
            </a:extLst>
          </p:cNvPr>
          <p:cNvSpPr>
            <a:spLocks noGrp="1"/>
          </p:cNvSpPr>
          <p:nvPr/>
        </p:nvSpPr>
        <p:spPr>
          <a:xfrm>
            <a:off x="4438650" y="3924300"/>
            <a:ext cx="66675" cy="11239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FFB936-446F-47BC-8014-A51D4CC3193B}"/>
              </a:ext>
            </a:extLst>
          </p:cNvPr>
          <p:cNvSpPr>
            <a:spLocks noGrp="1"/>
          </p:cNvSpPr>
          <p:nvPr/>
        </p:nvSpPr>
        <p:spPr>
          <a:xfrm>
            <a:off x="4629150" y="40767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透明解釋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1738D6-5DB6-4B1C-B7A1-C207673F3590}"/>
              </a:ext>
            </a:extLst>
          </p:cNvPr>
          <p:cNvSpPr>
            <a:spLocks noGrp="1"/>
          </p:cNvSpPr>
          <p:nvPr/>
        </p:nvSpPr>
        <p:spPr>
          <a:xfrm>
            <a:off x="4629150" y="44005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結果頁保留 breakdown，不只給答案，也給原因。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BDC4E32-FEC3-40CB-B530-4DB3F471F8E3}"/>
              </a:ext>
            </a:extLst>
          </p:cNvPr>
          <p:cNvSpPr>
            <a:spLocks noGrp="1"/>
          </p:cNvSpPr>
          <p:nvPr/>
        </p:nvSpPr>
        <p:spPr>
          <a:xfrm>
            <a:off x="7962900" y="3924300"/>
            <a:ext cx="2895600" cy="1123950"/>
          </a:xfrm>
          <a:prstGeom prst="rect">
            <a:avLst/>
          </a:prstGeom>
          <a:solidFill>
            <a:srgbClr val="F1EDF8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2D413B-4121-49B7-8EE5-9C173340BC4A}"/>
              </a:ext>
            </a:extLst>
          </p:cNvPr>
          <p:cNvSpPr>
            <a:spLocks noGrp="1"/>
          </p:cNvSpPr>
          <p:nvPr/>
        </p:nvSpPr>
        <p:spPr>
          <a:xfrm>
            <a:off x="7962900" y="3924300"/>
            <a:ext cx="66675" cy="1123950"/>
          </a:xfrm>
          <a:prstGeom prst="rect">
            <a:avLst/>
          </a:prstGeom>
          <a:solidFill>
            <a:srgbClr val="6E4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8D808A-AFA0-4EDE-A5BF-539F8F8A72B2}"/>
              </a:ext>
            </a:extLst>
          </p:cNvPr>
          <p:cNvSpPr>
            <a:spLocks noGrp="1"/>
          </p:cNvSpPr>
          <p:nvPr/>
        </p:nvSpPr>
        <p:spPr>
          <a:xfrm>
            <a:off x="8153400" y="40767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回歸測試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FF2BB80-4545-442D-BCEC-A84F2463E83D}"/>
              </a:ext>
            </a:extLst>
          </p:cNvPr>
          <p:cNvSpPr>
            <a:spLocks noGrp="1"/>
          </p:cNvSpPr>
          <p:nvPr/>
        </p:nvSpPr>
        <p:spPr>
          <a:xfrm>
            <a:off x="8153400" y="44005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scorer、taxonomy、catalog、UI flow 都有測試覆蓋。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60E26B3F-A8FE-4CCA-A370-744555DEEEE3}"/>
              </a:ext>
            </a:extLst>
          </p:cNvPr>
          <p:cNvSpPr>
            <a:spLocks noGrp="1"/>
          </p:cNvSpPr>
          <p:nvPr/>
        </p:nvSpPr>
        <p:spPr>
          <a:xfrm>
            <a:off x="1257300" y="5581650"/>
            <a:ext cx="114300" cy="114300"/>
          </a:xfrm>
          <a:prstGeom prst="ellipse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9C90CC-5287-41D6-9615-F4159CD28C03}"/>
              </a:ext>
            </a:extLst>
          </p:cNvPr>
          <p:cNvSpPr>
            <a:spLocks noGrp="1"/>
          </p:cNvSpPr>
          <p:nvPr/>
        </p:nvSpPr>
        <p:spPr>
          <a:xfrm>
            <a:off x="1466850" y="5467350"/>
            <a:ext cx="7810500" cy="361950"/>
          </a:xfrm>
          <a:prstGeom prst="rect">
            <a:avLst/>
          </a:prstGeom>
          <a:solidFill>
            <a:srgbClr val="121826"/>
          </a:solidFill>
          <a:ln w="9525">
            <a:solidFill>
              <a:srgbClr val="12182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CEF12D9-9CCA-47B0-BFF1-4B4C835CA17F}"/>
              </a:ext>
            </a:extLst>
          </p:cNvPr>
          <p:cNvSpPr>
            <a:spLocks noGrp="1"/>
          </p:cNvSpPr>
          <p:nvPr/>
        </p:nvSpPr>
        <p:spPr>
          <a:xfrm>
            <a:off x="1600200" y="5543550"/>
            <a:ext cx="7543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報告重點：公平分類 = 分流清楚 + 排除優先 + 衝突修正 + 可驗證。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2D35960-F900-4E2C-A855-6D07464B4D4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Implemented Conflict Rules / Implemented Tests。</a:t>
            </a:r>
          </a:p>
        </p:txBody>
      </p:sp>
    </p:spTree>
    <p:extLst>
      <p:ext uri="{BB962C8B-B14F-4D97-AF65-F5344CB8AC3E}">
        <p14:creationId xmlns:p14="http://schemas.microsoft.com/office/powerpoint/2010/main" val="158667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63048EE3-B079-48F1-82BD-B3F7F69CFD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F88BB4-416D-4B56-88D4-518F4AED78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2BE5E4-C7CA-4A9D-88BB-A8B8A587B44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5F8A"/>
                </a:solidFill>
                <a:latin typeface="Aptos"/>
                <a:ea typeface="Aptos"/>
                <a:cs typeface="Aptos"/>
              </a:rPr>
              <a:t>三、分類結果如何使用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A4ED1C-4A45-4150-8A4E-C96238E29024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26609D-1903-453C-B974-62F22E6DEFA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分類結果是一個可被使用的物件，不只是畫面上的一句推薦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A42F4F-344A-488E-8D42-A088EC6DA73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它同時支援使用者理解、品項掛接、未來分析。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8DB3FD-6FF3-4310-9DBF-BA469ADABD18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476500" cy="114300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F3E2DC-2EE2-47FC-9AC6-AB24F55865C0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66675" cy="11430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12AED5-187B-4264-AA96-9B24265D512B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Top result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839CD7-3D32-472E-863E-7F5D9FE2D238}"/>
              </a:ext>
            </a:extLst>
          </p:cNvPr>
          <p:cNvSpPr>
            <a:spLocks noGrp="1"/>
          </p:cNvSpPr>
          <p:nvPr/>
        </p:nvSpPr>
        <p:spPr>
          <a:xfrm>
            <a:off x="1066800" y="2667000"/>
            <a:ext cx="2133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今天最像哪一碗</a:t>
            </a:r>
          </a:p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例：豚骨、博多、家系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17F09D-E34C-4391-B7F3-91D7768C6861}"/>
              </a:ext>
            </a:extLst>
          </p:cNvPr>
          <p:cNvSpPr>
            <a:spLocks noGrp="1"/>
          </p:cNvSpPr>
          <p:nvPr/>
        </p:nvSpPr>
        <p:spPr>
          <a:xfrm>
            <a:off x="3562350" y="2724150"/>
            <a:ext cx="666750" cy="381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8BF09E02-0A64-4CA8-B0BC-9D6443D7E236}"/>
              </a:ext>
            </a:extLst>
          </p:cNvPr>
          <p:cNvSpPr>
            <a:spLocks noGrp="1"/>
          </p:cNvSpPr>
          <p:nvPr/>
        </p:nvSpPr>
        <p:spPr>
          <a:xfrm>
            <a:off x="4171950" y="2647950"/>
            <a:ext cx="152400" cy="152400"/>
          </a:xfrm>
          <a:prstGeom prst="triangl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72A5FF-CF98-47C1-8E38-A42E29793299}"/>
              </a:ext>
            </a:extLst>
          </p:cNvPr>
          <p:cNvSpPr>
            <a:spLocks noGrp="1"/>
          </p:cNvSpPr>
          <p:nvPr/>
        </p:nvSpPr>
        <p:spPr>
          <a:xfrm>
            <a:off x="4457700" y="2190750"/>
            <a:ext cx="2476500" cy="114300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141B9A-9DAB-4886-96CB-8E1CCC8A845E}"/>
              </a:ext>
            </a:extLst>
          </p:cNvPr>
          <p:cNvSpPr>
            <a:spLocks noGrp="1"/>
          </p:cNvSpPr>
          <p:nvPr/>
        </p:nvSpPr>
        <p:spPr>
          <a:xfrm>
            <a:off x="4457700" y="2190750"/>
            <a:ext cx="66675" cy="11430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3AA676-6048-4113-9DD6-1DD5CD16B96D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分數與輪廓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BC0EF1-3CAE-4333-9DDA-1AFE3F5D18EE}"/>
              </a:ext>
            </a:extLst>
          </p:cNvPr>
          <p:cNvSpPr>
            <a:spLocks noGrp="1"/>
          </p:cNvSpPr>
          <p:nvPr/>
        </p:nvSpPr>
        <p:spPr>
          <a:xfrm>
            <a:off x="4648200" y="2667000"/>
            <a:ext cx="2133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信心分數</a:t>
            </a:r>
          </a:p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清爽 / 標準 / 重口</a:t>
            </a:r>
          </a:p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麵型 subtype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A4B265F-CED8-46A6-802E-C03573663E73}"/>
              </a:ext>
            </a:extLst>
          </p:cNvPr>
          <p:cNvSpPr>
            <a:spLocks noGrp="1"/>
          </p:cNvSpPr>
          <p:nvPr/>
        </p:nvSpPr>
        <p:spPr>
          <a:xfrm>
            <a:off x="7143750" y="2724150"/>
            <a:ext cx="666750" cy="381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F43DEFAB-DDEB-4605-BE9D-D44172874FCC}"/>
              </a:ext>
            </a:extLst>
          </p:cNvPr>
          <p:cNvSpPr>
            <a:spLocks noGrp="1"/>
          </p:cNvSpPr>
          <p:nvPr/>
        </p:nvSpPr>
        <p:spPr>
          <a:xfrm>
            <a:off x="7753350" y="2647950"/>
            <a:ext cx="152400" cy="152400"/>
          </a:xfrm>
          <a:prstGeom prst="triangle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E822D7-860D-4283-A75F-FB49C5C3C16D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2476500" cy="1143000"/>
          </a:xfrm>
          <a:prstGeom prst="rect">
            <a:avLst/>
          </a:prstGeom>
          <a:solidFill>
            <a:srgbClr val="FFF9EF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8658DF-5417-45E5-81DD-DC80E7D68EBB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66675" cy="11430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39BC90-1ADC-4E3D-9876-00285BF05BA0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理由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1AD45D-E46A-4DF6-A3A6-AD2BE26659F0}"/>
              </a:ext>
            </a:extLst>
          </p:cNvPr>
          <p:cNvSpPr>
            <a:spLocks noGrp="1"/>
          </p:cNvSpPr>
          <p:nvPr/>
        </p:nvSpPr>
        <p:spPr>
          <a:xfrm>
            <a:off x="8229600" y="2667000"/>
            <a:ext cx="2133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每題命中程度</a:t>
            </a:r>
          </a:p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加分原因</a:t>
            </a:r>
          </a:p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扣分原因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EC4073-F5BE-4836-A747-9DEB56A50A9C}"/>
              </a:ext>
            </a:extLst>
          </p:cNvPr>
          <p:cNvSpPr>
            <a:spLocks noGrp="1"/>
          </p:cNvSpPr>
          <p:nvPr/>
        </p:nvSpPr>
        <p:spPr>
          <a:xfrm>
            <a:off x="1619250" y="4210050"/>
            <a:ext cx="3429000" cy="110490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AC1E5D-8428-431F-BA8F-E14033900746}"/>
              </a:ext>
            </a:extLst>
          </p:cNvPr>
          <p:cNvSpPr>
            <a:spLocks noGrp="1"/>
          </p:cNvSpPr>
          <p:nvPr/>
        </p:nvSpPr>
        <p:spPr>
          <a:xfrm>
            <a:off x="1619250" y="4210050"/>
            <a:ext cx="66675" cy="11049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C97D3E-215E-4C77-B9CE-93ABAA48A26E}"/>
              </a:ext>
            </a:extLst>
          </p:cNvPr>
          <p:cNvSpPr>
            <a:spLocks noGrp="1"/>
          </p:cNvSpPr>
          <p:nvPr/>
        </p:nvSpPr>
        <p:spPr>
          <a:xfrm>
            <a:off x="1809750" y="436245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使用者得到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6D2FD0A-C887-4E2E-A0AE-9668B1FB12CC}"/>
              </a:ext>
            </a:extLst>
          </p:cNvPr>
          <p:cNvSpPr>
            <a:spLocks noGrp="1"/>
          </p:cNvSpPr>
          <p:nvPr/>
        </p:nvSpPr>
        <p:spPr>
          <a:xfrm>
            <a:off x="1809750" y="468630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不是只看到「系統說你該吃這個」，而是能理解為什麼，也能回頭調整答案。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74B25A4-4795-4E86-850F-1B76FEEE2DD4}"/>
              </a:ext>
            </a:extLst>
          </p:cNvPr>
          <p:cNvSpPr>
            <a:spLocks noGrp="1"/>
          </p:cNvSpPr>
          <p:nvPr/>
        </p:nvSpPr>
        <p:spPr>
          <a:xfrm>
            <a:off x="6191250" y="4210050"/>
            <a:ext cx="3429000" cy="110490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37851F-7E7F-4B04-B1A4-6A891556832B}"/>
              </a:ext>
            </a:extLst>
          </p:cNvPr>
          <p:cNvSpPr>
            <a:spLocks noGrp="1"/>
          </p:cNvSpPr>
          <p:nvPr/>
        </p:nvSpPr>
        <p:spPr>
          <a:xfrm>
            <a:off x="6191250" y="4210050"/>
            <a:ext cx="66675" cy="11049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6CD2B9-019D-4C5B-B371-9E8CC0A310FF}"/>
              </a:ext>
            </a:extLst>
          </p:cNvPr>
          <p:cNvSpPr>
            <a:spLocks noGrp="1"/>
          </p:cNvSpPr>
          <p:nvPr/>
        </p:nvSpPr>
        <p:spPr>
          <a:xfrm>
            <a:off x="6381750" y="436245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系統留下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75171B4-C17F-4780-8FD1-1A36BDE879C0}"/>
              </a:ext>
            </a:extLst>
          </p:cNvPr>
          <p:cNvSpPr>
            <a:spLocks noGrp="1"/>
          </p:cNvSpPr>
          <p:nvPr/>
        </p:nvSpPr>
        <p:spPr>
          <a:xfrm>
            <a:off x="6381750" y="468630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結果物件保留 styleId、coreTypeId、subtypeId，後續可以接品項、地點與分析。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0E181B0-AE69-43CF-BC89-19D428CE5878}"/>
              </a:ext>
            </a:extLst>
          </p:cNvPr>
          <p:cNvSpPr>
            <a:spLocks noGrp="1"/>
          </p:cNvSpPr>
          <p:nvPr/>
        </p:nvSpPr>
        <p:spPr>
          <a:xfrm>
            <a:off x="2476500" y="5734050"/>
            <a:ext cx="6477000" cy="361950"/>
          </a:xfrm>
          <a:prstGeom prst="rect">
            <a:avLst/>
          </a:prstGeom>
          <a:solidFill>
            <a:srgbClr val="121826"/>
          </a:solidFill>
          <a:ln w="9525">
            <a:solidFill>
              <a:srgbClr val="12182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859B08-1F06-4D25-8C44-C13584CA1C9F}"/>
              </a:ext>
            </a:extLst>
          </p:cNvPr>
          <p:cNvSpPr>
            <a:spLocks noGrp="1"/>
          </p:cNvSpPr>
          <p:nvPr/>
        </p:nvSpPr>
        <p:spPr>
          <a:xfrm>
            <a:off x="2609850" y="5810250"/>
            <a:ext cx="621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一句話：結果不是終點，它是使用者體驗與商家分析的共同接口。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EA7E70A-37C0-40B3-B31C-ECDE55C80380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來源：README.md · Current Scope；docs/spec.md · Core Hierarchy。</a:t>
            </a:r>
          </a:p>
        </p:txBody>
      </p:sp>
    </p:spTree>
    <p:extLst>
      <p:ext uri="{BB962C8B-B14F-4D97-AF65-F5344CB8AC3E}">
        <p14:creationId xmlns:p14="http://schemas.microsoft.com/office/powerpoint/2010/main" val="75304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72B70442-71B1-4CD6-8C18-9F1F8E803E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C85C10-A6FF-4A43-9579-298F265E97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763C7D-A9FC-44C1-833C-154D73EAA03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5F8A"/>
                </a:solidFill>
                <a:latin typeface="Aptos"/>
                <a:ea typeface="Aptos"/>
                <a:cs typeface="Aptos"/>
              </a:rPr>
              <a:t>三、分類結果如何使用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F45339-681E-4B67-8509-A50F891FA2C4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91AD6B-D1E1-4D00-A509-6C6F8E596AD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結果可以接到真實品項，但店家資料不影響分類答案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093C7D-A25E-4EFA-A4C6-A195CCB09F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先分類，再掛接。這樣使用者結果不會被商業資料污染。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0343AA-60BF-4C81-9132-54D4A94B3911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2000250" cy="108585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9BAF22-5514-43A0-9280-A686E0872655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66675" cy="10858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48DB30-707B-499B-9BE0-C623B7D88B88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styleId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B776A2-14BE-4C4E-B781-82EF20CEC2C9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前台風格</a:t>
            </a:r>
          </a:p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豚骨 / 博多 / 家系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0633DD-AA2C-4C93-A25A-8C4944CF84F9}"/>
              </a:ext>
            </a:extLst>
          </p:cNvPr>
          <p:cNvSpPr>
            <a:spLocks noGrp="1"/>
          </p:cNvSpPr>
          <p:nvPr/>
        </p:nvSpPr>
        <p:spPr>
          <a:xfrm>
            <a:off x="2895600" y="3028950"/>
            <a:ext cx="514350" cy="381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7EB0DBA9-1712-4548-ADF7-2337652BD730}"/>
              </a:ext>
            </a:extLst>
          </p:cNvPr>
          <p:cNvSpPr>
            <a:spLocks noGrp="1"/>
          </p:cNvSpPr>
          <p:nvPr/>
        </p:nvSpPr>
        <p:spPr>
          <a:xfrm>
            <a:off x="3352800" y="2952750"/>
            <a:ext cx="152400" cy="152400"/>
          </a:xfrm>
          <a:prstGeom prst="triangl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612058-90D2-4A59-BA3D-BCF834E7A1BB}"/>
              </a:ext>
            </a:extLst>
          </p:cNvPr>
          <p:cNvSpPr>
            <a:spLocks noGrp="1"/>
          </p:cNvSpPr>
          <p:nvPr/>
        </p:nvSpPr>
        <p:spPr>
          <a:xfrm>
            <a:off x="3638550" y="2514600"/>
            <a:ext cx="2095500" cy="108585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0AA988-772B-44B6-9A46-F874DD9B5F65}"/>
              </a:ext>
            </a:extLst>
          </p:cNvPr>
          <p:cNvSpPr>
            <a:spLocks noGrp="1"/>
          </p:cNvSpPr>
          <p:nvPr/>
        </p:nvSpPr>
        <p:spPr>
          <a:xfrm>
            <a:off x="3638550" y="2514600"/>
            <a:ext cx="66675" cy="10858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5A0A80-AFA1-45F7-A06C-13E313E21028}"/>
              </a:ext>
            </a:extLst>
          </p:cNvPr>
          <p:cNvSpPr>
            <a:spLocks noGrp="1"/>
          </p:cNvSpPr>
          <p:nvPr/>
        </p:nvSpPr>
        <p:spPr>
          <a:xfrm>
            <a:off x="3829050" y="26670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coreTypeId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796EA2-79BF-450B-ABE9-68452E488F0E}"/>
              </a:ext>
            </a:extLst>
          </p:cNvPr>
          <p:cNvSpPr>
            <a:spLocks noGrp="1"/>
          </p:cNvSpPr>
          <p:nvPr/>
        </p:nvSpPr>
        <p:spPr>
          <a:xfrm>
            <a:off x="3829050" y="2990850"/>
            <a:ext cx="175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清爽 / 標準 / 重口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6FD1CA-6FCF-4132-9685-D38E8C100797}"/>
              </a:ext>
            </a:extLst>
          </p:cNvPr>
          <p:cNvSpPr>
            <a:spLocks noGrp="1"/>
          </p:cNvSpPr>
          <p:nvPr/>
        </p:nvSpPr>
        <p:spPr>
          <a:xfrm>
            <a:off x="5886450" y="3028950"/>
            <a:ext cx="514350" cy="381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88739A30-D368-4877-9AC3-E486EA31D40E}"/>
              </a:ext>
            </a:extLst>
          </p:cNvPr>
          <p:cNvSpPr>
            <a:spLocks noGrp="1"/>
          </p:cNvSpPr>
          <p:nvPr/>
        </p:nvSpPr>
        <p:spPr>
          <a:xfrm>
            <a:off x="6343650" y="2952750"/>
            <a:ext cx="152400" cy="152400"/>
          </a:xfrm>
          <a:prstGeom prst="triangle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4D41A7-5233-4AE5-AB3B-D481DEAB2C0B}"/>
              </a:ext>
            </a:extLst>
          </p:cNvPr>
          <p:cNvSpPr>
            <a:spLocks noGrp="1"/>
          </p:cNvSpPr>
          <p:nvPr/>
        </p:nvSpPr>
        <p:spPr>
          <a:xfrm>
            <a:off x="6629400" y="2514600"/>
            <a:ext cx="2190750" cy="1085850"/>
          </a:xfrm>
          <a:prstGeom prst="rect">
            <a:avLst/>
          </a:prstGeom>
          <a:solidFill>
            <a:srgbClr val="FFF0E4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67365C-B2F4-4193-B2A7-72079436B901}"/>
              </a:ext>
            </a:extLst>
          </p:cNvPr>
          <p:cNvSpPr>
            <a:spLocks noGrp="1"/>
          </p:cNvSpPr>
          <p:nvPr/>
        </p:nvSpPr>
        <p:spPr>
          <a:xfrm>
            <a:off x="6629400" y="2514600"/>
            <a:ext cx="66675" cy="108585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C75FDD-43D3-470B-A62B-F5065A033DC2}"/>
              </a:ext>
            </a:extLst>
          </p:cNvPr>
          <p:cNvSpPr>
            <a:spLocks noGrp="1"/>
          </p:cNvSpPr>
          <p:nvPr/>
        </p:nvSpPr>
        <p:spPr>
          <a:xfrm>
            <a:off x="6819900" y="2667000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subtypeId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DC489-9CD1-4565-AC3F-D33BE14909EF}"/>
              </a:ext>
            </a:extLst>
          </p:cNvPr>
          <p:cNvSpPr>
            <a:spLocks noGrp="1"/>
          </p:cNvSpPr>
          <p:nvPr/>
        </p:nvSpPr>
        <p:spPr>
          <a:xfrm>
            <a:off x="6819900" y="299085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細直麵 / 中太麵 / 極粗麵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061350-13FD-47D8-AF04-2D11A293432B}"/>
              </a:ext>
            </a:extLst>
          </p:cNvPr>
          <p:cNvSpPr>
            <a:spLocks noGrp="1"/>
          </p:cNvSpPr>
          <p:nvPr/>
        </p:nvSpPr>
        <p:spPr>
          <a:xfrm>
            <a:off x="8972550" y="3028950"/>
            <a:ext cx="514350" cy="381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三角形 23">
            <a:extLst>
              <a:ext uri="{FF2B5EF4-FFF2-40B4-BE49-F238E27FC236}">
                <a16:creationId xmlns:a16="http://schemas.microsoft.com/office/drawing/2014/main" id="{CED978E9-1ACB-4D5E-BB4F-2B075197C88D}"/>
              </a:ext>
            </a:extLst>
          </p:cNvPr>
          <p:cNvSpPr>
            <a:spLocks noGrp="1"/>
          </p:cNvSpPr>
          <p:nvPr/>
        </p:nvSpPr>
        <p:spPr>
          <a:xfrm>
            <a:off x="9429750" y="2952750"/>
            <a:ext cx="152400" cy="152400"/>
          </a:xfrm>
          <a:prstGeom prst="triangle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F0A4C0E-F875-41B0-8E9B-7998B78C5DE4}"/>
              </a:ext>
            </a:extLst>
          </p:cNvPr>
          <p:cNvSpPr>
            <a:spLocks noGrp="1"/>
          </p:cNvSpPr>
          <p:nvPr/>
        </p:nvSpPr>
        <p:spPr>
          <a:xfrm>
            <a:off x="9715500" y="2514600"/>
            <a:ext cx="2000250" cy="1085850"/>
          </a:xfrm>
          <a:prstGeom prst="rect">
            <a:avLst/>
          </a:prstGeom>
          <a:solidFill>
            <a:srgbClr val="FFF9EF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A3003D-97EF-4355-950F-D4C9439D817B}"/>
              </a:ext>
            </a:extLst>
          </p:cNvPr>
          <p:cNvSpPr>
            <a:spLocks noGrp="1"/>
          </p:cNvSpPr>
          <p:nvPr/>
        </p:nvSpPr>
        <p:spPr>
          <a:xfrm>
            <a:off x="9715500" y="2514600"/>
            <a:ext cx="66675" cy="108585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5DC14D-3EBC-4963-896A-C27E69DE0AEB}"/>
              </a:ext>
            </a:extLst>
          </p:cNvPr>
          <p:cNvSpPr>
            <a:spLocks noGrp="1"/>
          </p:cNvSpPr>
          <p:nvPr/>
        </p:nvSpPr>
        <p:spPr>
          <a:xfrm>
            <a:off x="9906000" y="26670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C80449-0D92-461D-9E91-7338B59149AF}"/>
              </a:ext>
            </a:extLst>
          </p:cNvPr>
          <p:cNvSpPr>
            <a:spLocks noGrp="1"/>
          </p:cNvSpPr>
          <p:nvPr/>
        </p:nvSpPr>
        <p:spPr>
          <a:xfrm>
            <a:off x="9906000" y="299085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店家與品項</a:t>
            </a:r>
          </a:p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官方來源 URL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70F276-322D-4CA4-9777-B2D3D8D41FE5}"/>
              </a:ext>
            </a:extLst>
          </p:cNvPr>
          <p:cNvSpPr>
            <a:spLocks noGrp="1"/>
          </p:cNvSpPr>
          <p:nvPr/>
        </p:nvSpPr>
        <p:spPr>
          <a:xfrm>
            <a:off x="1333500" y="4343400"/>
            <a:ext cx="9525000" cy="381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340A88-F4E7-4E7A-BA67-6D2C4E6011E3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2857500" cy="87630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19B06FC-3462-4A3C-999D-0BD10D53E00E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66675" cy="8763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DF077F8-9EA5-46AF-9174-C11A50AF7E61}"/>
              </a:ext>
            </a:extLst>
          </p:cNvPr>
          <p:cNvSpPr>
            <a:spLocks noGrp="1"/>
          </p:cNvSpPr>
          <p:nvPr/>
        </p:nvSpPr>
        <p:spPr>
          <a:xfrm>
            <a:off x="1866900" y="48387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現在能做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AC79557-298A-4AA9-B294-B9001CB5B146}"/>
              </a:ext>
            </a:extLst>
          </p:cNvPr>
          <p:cNvSpPr>
            <a:spLocks noGrp="1"/>
          </p:cNvSpPr>
          <p:nvPr/>
        </p:nvSpPr>
        <p:spPr>
          <a:xfrm>
            <a:off x="1866900" y="51625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依分類結果顯示最多 2 間店、每間最多 2 個對應品項。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7F05C81-CA5E-410F-9FFF-04B5C54F7EA6}"/>
              </a:ext>
            </a:extLst>
          </p:cNvPr>
          <p:cNvSpPr>
            <a:spLocks noGrp="1"/>
          </p:cNvSpPr>
          <p:nvPr/>
        </p:nvSpPr>
        <p:spPr>
          <a:xfrm>
            <a:off x="4800600" y="4686300"/>
            <a:ext cx="3048000" cy="87630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8C07EA9-9947-4DD8-80F6-C50B6C981441}"/>
              </a:ext>
            </a:extLst>
          </p:cNvPr>
          <p:cNvSpPr>
            <a:spLocks noGrp="1"/>
          </p:cNvSpPr>
          <p:nvPr/>
        </p:nvSpPr>
        <p:spPr>
          <a:xfrm>
            <a:off x="4800600" y="4686300"/>
            <a:ext cx="66675" cy="8763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512A5FB-70CA-4294-91A7-2633C7B7E7CE}"/>
              </a:ext>
            </a:extLst>
          </p:cNvPr>
          <p:cNvSpPr>
            <a:spLocks noGrp="1"/>
          </p:cNvSpPr>
          <p:nvPr/>
        </p:nvSpPr>
        <p:spPr>
          <a:xfrm>
            <a:off x="4991100" y="48387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下一步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E3B7A0-243A-48B7-B312-028D19E4ADAC}"/>
              </a:ext>
            </a:extLst>
          </p:cNvPr>
          <p:cNvSpPr>
            <a:spLocks noGrp="1"/>
          </p:cNvSpPr>
          <p:nvPr/>
        </p:nvSpPr>
        <p:spPr>
          <a:xfrm>
            <a:off x="4991100" y="5162550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補位置排序、供應狀態、更多台灣店家、非工程維護流程。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028D46-4EF5-4C50-9E6F-176C1BED1E72}"/>
              </a:ext>
            </a:extLst>
          </p:cNvPr>
          <p:cNvSpPr>
            <a:spLocks noGrp="1"/>
          </p:cNvSpPr>
          <p:nvPr/>
        </p:nvSpPr>
        <p:spPr>
          <a:xfrm>
            <a:off x="8115300" y="4895850"/>
            <a:ext cx="2952750" cy="533400"/>
          </a:xfrm>
          <a:prstGeom prst="rect">
            <a:avLst/>
          </a:prstGeom>
          <a:solidFill>
            <a:srgbClr val="121826"/>
          </a:solidFill>
          <a:ln w="9525">
            <a:solidFill>
              <a:srgbClr val="12182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F3E2D3-846F-46B6-B56D-B19F77A607DC}"/>
              </a:ext>
            </a:extLst>
          </p:cNvPr>
          <p:cNvSpPr>
            <a:spLocks noGrp="1"/>
          </p:cNvSpPr>
          <p:nvPr/>
        </p:nvSpPr>
        <p:spPr>
          <a:xfrm>
            <a:off x="8248650" y="4972050"/>
            <a:ext cx="2686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使用方式：從「你像哪一碗」延伸成「附近哪裡能吃到相近的一碗」。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60A43D-9FA7-4EC5-BF63-FD7EC248D1C0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Catalog Layer / Current Gaps。</a:t>
            </a:r>
          </a:p>
        </p:txBody>
      </p:sp>
    </p:spTree>
    <p:extLst>
      <p:ext uri="{BB962C8B-B14F-4D97-AF65-F5344CB8AC3E}">
        <p14:creationId xmlns:p14="http://schemas.microsoft.com/office/powerpoint/2010/main" val="1474538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761F962B-98A3-4E78-B038-9449B8EE6F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94E696-E727-49AE-BC13-1DE63F4424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2A5C65-6F04-4B7D-9D8D-34F979A42C3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B7A6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7A65"/>
                </a:solidFill>
                <a:latin typeface="Aptos"/>
                <a:ea typeface="Aptos"/>
                <a:cs typeface="Aptos"/>
              </a:rPr>
              <a:t>四、數據收集與商家分析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F82DA5-20AA-45A9-94C7-3FC261B520FE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5E9C86-DBBE-4F68-9674-55F7035A1FD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商家需要的不是個人資料，而是匿名彙整後的口味需求訊號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791730-6E95-40C4-928E-EB77735241A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資料收集要先劃清界線：收集行為和偏好趨勢，不賣個人身分。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6EE3AF-E644-46E8-A360-33CCA0869B4D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2476500" cy="142875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4BAFA1-9DBB-4ADE-8C92-71C875A95D7F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66675" cy="14287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AF5B23-4854-4761-BF92-8387E59D475C}"/>
              </a:ext>
            </a:extLst>
          </p:cNvPr>
          <p:cNvSpPr>
            <a:spLocks noGrp="1"/>
          </p:cNvSpPr>
          <p:nvPr/>
        </p:nvSpPr>
        <p:spPr>
          <a:xfrm>
            <a:off x="1009650" y="251460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使用事件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7D9EF4-118A-49E6-9143-46494A688C16}"/>
              </a:ext>
            </a:extLst>
          </p:cNvPr>
          <p:cNvSpPr>
            <a:spLocks noGrp="1"/>
          </p:cNvSpPr>
          <p:nvPr/>
        </p:nvSpPr>
        <p:spPr>
          <a:xfrm>
            <a:off x="1009650" y="2838450"/>
            <a:ext cx="2133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答題選項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Top 3 結果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重新調整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官方頁面點擊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376B98-39AD-449A-87B4-AA68EA6B4BAF}"/>
              </a:ext>
            </a:extLst>
          </p:cNvPr>
          <p:cNvSpPr>
            <a:spLocks noGrp="1"/>
          </p:cNvSpPr>
          <p:nvPr/>
        </p:nvSpPr>
        <p:spPr>
          <a:xfrm>
            <a:off x="3486150" y="3048000"/>
            <a:ext cx="666750" cy="381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989763A4-E088-41B0-B6C5-D307102DB5D2}"/>
              </a:ext>
            </a:extLst>
          </p:cNvPr>
          <p:cNvSpPr>
            <a:spLocks noGrp="1"/>
          </p:cNvSpPr>
          <p:nvPr/>
        </p:nvSpPr>
        <p:spPr>
          <a:xfrm>
            <a:off x="4095750" y="2971800"/>
            <a:ext cx="152400" cy="152400"/>
          </a:xfrm>
          <a:prstGeom prst="triangle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220053-0407-4C0B-8E7C-F566D07225D5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2476500" cy="1428750"/>
          </a:xfrm>
          <a:prstGeom prst="rect">
            <a:avLst/>
          </a:prstGeom>
          <a:solidFill>
            <a:srgbClr val="EAF1FB"/>
          </a:solidFill>
          <a:ln w="9525">
            <a:solidFill>
              <a:srgbClr val="B8CBE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5D921D-EE7C-40A3-92E6-CAD557960B93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66675" cy="14287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8F9357-787F-46AB-8238-49F52F8E84F1}"/>
              </a:ext>
            </a:extLst>
          </p:cNvPr>
          <p:cNvSpPr>
            <a:spLocks noGrp="1"/>
          </p:cNvSpPr>
          <p:nvPr/>
        </p:nvSpPr>
        <p:spPr>
          <a:xfrm>
            <a:off x="4572000" y="251460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匿名彙整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9A4E5B-4490-4308-BD66-7752FC5902B5}"/>
              </a:ext>
            </a:extLst>
          </p:cNvPr>
          <p:cNvSpPr>
            <a:spLocks noGrp="1"/>
          </p:cNvSpPr>
          <p:nvPr/>
        </p:nvSpPr>
        <p:spPr>
          <a:xfrm>
            <a:off x="4572000" y="2838450"/>
            <a:ext cx="2133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去識別化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樣本數門檻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只看群體趨勢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E7E24B-20FC-4DEC-984E-DBB09C8D88F7}"/>
              </a:ext>
            </a:extLst>
          </p:cNvPr>
          <p:cNvSpPr>
            <a:spLocks noGrp="1"/>
          </p:cNvSpPr>
          <p:nvPr/>
        </p:nvSpPr>
        <p:spPr>
          <a:xfrm>
            <a:off x="7048500" y="3048000"/>
            <a:ext cx="666750" cy="381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6D81ABF0-C034-4EF8-9987-E97297E56FA4}"/>
              </a:ext>
            </a:extLst>
          </p:cNvPr>
          <p:cNvSpPr>
            <a:spLocks noGrp="1"/>
          </p:cNvSpPr>
          <p:nvPr/>
        </p:nvSpPr>
        <p:spPr>
          <a:xfrm>
            <a:off x="7658100" y="2971800"/>
            <a:ext cx="152400" cy="152400"/>
          </a:xfrm>
          <a:prstGeom prst="triangl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21EBD6-A7F1-4731-AF07-A2BED671057F}"/>
              </a:ext>
            </a:extLst>
          </p:cNvPr>
          <p:cNvSpPr>
            <a:spLocks noGrp="1"/>
          </p:cNvSpPr>
          <p:nvPr/>
        </p:nvSpPr>
        <p:spPr>
          <a:xfrm>
            <a:off x="7943850" y="2362200"/>
            <a:ext cx="2476500" cy="1428750"/>
          </a:xfrm>
          <a:prstGeom prst="rect">
            <a:avLst/>
          </a:prstGeom>
          <a:solidFill>
            <a:srgbClr val="FFF9EF"/>
          </a:solidFill>
          <a:ln w="9525">
            <a:solidFill>
              <a:srgbClr val="E1D0B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96CEEE-3BF6-4938-85F4-4686C35C16AC}"/>
              </a:ext>
            </a:extLst>
          </p:cNvPr>
          <p:cNvSpPr>
            <a:spLocks noGrp="1"/>
          </p:cNvSpPr>
          <p:nvPr/>
        </p:nvSpPr>
        <p:spPr>
          <a:xfrm>
            <a:off x="7943850" y="2362200"/>
            <a:ext cx="66675" cy="142875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C30E29-2935-47F3-8990-DC7DAD1F1B5A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需求洞察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8A863C-6C21-426F-AE80-98B48F16D3EA}"/>
              </a:ext>
            </a:extLst>
          </p:cNvPr>
          <p:cNvSpPr>
            <a:spLocks noGrp="1"/>
          </p:cNvSpPr>
          <p:nvPr/>
        </p:nvSpPr>
        <p:spPr>
          <a:xfrm>
            <a:off x="8134350" y="2838450"/>
            <a:ext cx="2133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風格熱度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排除食材比例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未命中需求</a:t>
            </a:r>
          </a:p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地區與時段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F05401-ACBC-452F-9105-209D608AAAB3}"/>
              </a:ext>
            </a:extLst>
          </p:cNvPr>
          <p:cNvSpPr>
            <a:spLocks noGrp="1"/>
          </p:cNvSpPr>
          <p:nvPr/>
        </p:nvSpPr>
        <p:spPr>
          <a:xfrm>
            <a:off x="1600200" y="4610100"/>
            <a:ext cx="3619500" cy="1009650"/>
          </a:xfrm>
          <a:prstGeom prst="rect">
            <a:avLst/>
          </a:prstGeom>
          <a:solidFill>
            <a:srgbClr val="EAF6F0"/>
          </a:solidFill>
          <a:ln w="9525">
            <a:solidFill>
              <a:srgbClr val="B9DAC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2E8903-5953-45FD-B307-835F67ED31E2}"/>
              </a:ext>
            </a:extLst>
          </p:cNvPr>
          <p:cNvSpPr>
            <a:spLocks noGrp="1"/>
          </p:cNvSpPr>
          <p:nvPr/>
        </p:nvSpPr>
        <p:spPr>
          <a:xfrm>
            <a:off x="1600200" y="4610100"/>
            <a:ext cx="66675" cy="10096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B4955A-4733-48C3-8970-F816E325AEA2}"/>
              </a:ext>
            </a:extLst>
          </p:cNvPr>
          <p:cNvSpPr>
            <a:spLocks noGrp="1"/>
          </p:cNvSpPr>
          <p:nvPr/>
        </p:nvSpPr>
        <p:spPr>
          <a:xfrm>
            <a:off x="1790700" y="47625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可以賣給商家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00F04B7-F424-4A39-9986-EEB0F0C638AC}"/>
              </a:ext>
            </a:extLst>
          </p:cNvPr>
          <p:cNvSpPr>
            <a:spLocks noGrp="1"/>
          </p:cNvSpPr>
          <p:nvPr/>
        </p:nvSpPr>
        <p:spPr>
          <a:xfrm>
            <a:off x="1790700" y="5086350"/>
            <a:ext cx="3276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例：最近清湯需求上升、濃厚豚骨在晚餐時段更常被選、貝類排除比例偏高。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1DCABD-A46A-41D7-B4E8-662FE24EFF82}"/>
              </a:ext>
            </a:extLst>
          </p:cNvPr>
          <p:cNvSpPr>
            <a:spLocks noGrp="1"/>
          </p:cNvSpPr>
          <p:nvPr/>
        </p:nvSpPr>
        <p:spPr>
          <a:xfrm>
            <a:off x="6191250" y="4610100"/>
            <a:ext cx="3619500" cy="1009650"/>
          </a:xfrm>
          <a:prstGeom prst="rect">
            <a:avLst/>
          </a:prstGeom>
          <a:solidFill>
            <a:srgbClr val="FFF0EF"/>
          </a:solidFill>
          <a:ln w="9525">
            <a:solidFill>
              <a:srgbClr val="E9BAB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DD3492-5D97-43E4-9C1B-8F520E2BF1B8}"/>
              </a:ext>
            </a:extLst>
          </p:cNvPr>
          <p:cNvSpPr>
            <a:spLocks noGrp="1"/>
          </p:cNvSpPr>
          <p:nvPr/>
        </p:nvSpPr>
        <p:spPr>
          <a:xfrm>
            <a:off x="6191250" y="4610100"/>
            <a:ext cx="66675" cy="1009650"/>
          </a:xfrm>
          <a:prstGeom prst="rect">
            <a:avLst/>
          </a:prstGeom>
          <a:solidFill>
            <a:srgbClr val="A6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4F7DBF-6676-4F80-B8DC-78C1304E4B12}"/>
              </a:ext>
            </a:extLst>
          </p:cNvPr>
          <p:cNvSpPr>
            <a:spLocks noGrp="1"/>
          </p:cNvSpPr>
          <p:nvPr/>
        </p:nvSpPr>
        <p:spPr>
          <a:xfrm>
            <a:off x="6381750" y="47625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不應該賣給商家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DEF339-C66D-4A36-B27E-8ECDEBF92C5F}"/>
              </a:ext>
            </a:extLst>
          </p:cNvPr>
          <p:cNvSpPr>
            <a:spLocks noGrp="1"/>
          </p:cNvSpPr>
          <p:nvPr/>
        </p:nvSpPr>
        <p:spPr>
          <a:xfrm>
            <a:off x="6381750" y="5086350"/>
            <a:ext cx="3276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個人姓名、電話、單一使用者飲食習慣、可回推出身分的明細資料。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26DF42-84F2-4E5E-9420-6C4A8F813E89}"/>
              </a:ext>
            </a:extLst>
          </p:cNvPr>
          <p:cNvSpPr>
            <a:spLocks noGrp="1"/>
          </p:cNvSpPr>
          <p:nvPr/>
        </p:nvSpPr>
        <p:spPr>
          <a:xfrm>
            <a:off x="3448050" y="5753100"/>
            <a:ext cx="4572000" cy="361950"/>
          </a:xfrm>
          <a:prstGeom prst="rect">
            <a:avLst/>
          </a:prstGeom>
          <a:solidFill>
            <a:srgbClr val="121826"/>
          </a:solidFill>
          <a:ln w="9525">
            <a:solidFill>
              <a:srgbClr val="12182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AEE606-2B08-4989-88A1-CE7FECBD5786}"/>
              </a:ext>
            </a:extLst>
          </p:cNvPr>
          <p:cNvSpPr>
            <a:spLocks noGrp="1"/>
          </p:cNvSpPr>
          <p:nvPr/>
        </p:nvSpPr>
        <p:spPr>
          <a:xfrm>
            <a:off x="3581400" y="5829300"/>
            <a:ext cx="430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報告說法：賣的是市場洞察，不是使用者隱私。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4F11A62-23B7-483A-9C3C-E128353E3EE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商家分析為下一階段設計方向；目前 V1 已有結果資料結構與本機暫存。</a:t>
            </a:r>
          </a:p>
        </p:txBody>
      </p:sp>
    </p:spTree>
    <p:extLst>
      <p:ext uri="{BB962C8B-B14F-4D97-AF65-F5344CB8AC3E}">
        <p14:creationId xmlns:p14="http://schemas.microsoft.com/office/powerpoint/2010/main" val="1693855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E2BAED17-F7B5-4429-A18B-CD387AA3A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8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8C02FD-24B5-43F0-9888-C997DCDD45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3F4F9C-EA98-47E4-8D2E-E717B02E758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23A"/>
                </a:solidFill>
                <a:latin typeface="Aptos"/>
                <a:ea typeface="Aptos"/>
                <a:cs typeface="Aptos"/>
              </a:rPr>
              <a:t>四、數據收集與商家分析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E6C632-8120-4243-8B53-6C193214E933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EAD7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D7B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F4C5F3-6C07-4487-AE90-51D2855CBE2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001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9E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9EF"/>
                </a:solidFill>
                <a:latin typeface="Aptos Display"/>
                <a:ea typeface="Aptos Display"/>
                <a:cs typeface="Aptos Display"/>
              </a:rPr>
              <a:t>商業化：把分類結果變成店家能行動的分析產品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D6E41E-CBCA-40F4-B6FA-37FF83A389D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最後賣給商家的可以是月報、儀表板或 API，而不是原始個資。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043774-4CAA-43ED-8309-2FFEEF7CFDA3}"/>
              </a:ext>
            </a:extLst>
          </p:cNvPr>
          <p:cNvSpPr>
            <a:spLocks noGrp="1"/>
          </p:cNvSpPr>
          <p:nvPr/>
        </p:nvSpPr>
        <p:spPr>
          <a:xfrm>
            <a:off x="819150" y="2247900"/>
            <a:ext cx="2667000" cy="1238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5776D3-7E0D-4D2E-91B3-0B2D1C7DE3EF}"/>
              </a:ext>
            </a:extLst>
          </p:cNvPr>
          <p:cNvSpPr>
            <a:spLocks noGrp="1"/>
          </p:cNvSpPr>
          <p:nvPr/>
        </p:nvSpPr>
        <p:spPr>
          <a:xfrm>
            <a:off x="819150" y="2247900"/>
            <a:ext cx="66675" cy="123825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0262A7-C1D3-4F35-97F7-AA2FDDC150D0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月報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5F2AAD-7852-4635-9D29-3E7716888324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2324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每月風格熱度</a:t>
            </a:r>
          </a:p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新品機會</a:t>
            </a:r>
          </a:p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競品風格觀察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8F6908-84A7-4059-AC3C-04E6312A03AF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2667000" cy="1238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2E3763-3A39-4840-8110-258DEF051E02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66675" cy="123825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80863D-447E-40F6-B749-EEC1AE1F48EB}"/>
              </a:ext>
            </a:extLst>
          </p:cNvPr>
          <p:cNvSpPr>
            <a:spLocks noGrp="1"/>
          </p:cNvSpPr>
          <p:nvPr/>
        </p:nvSpPr>
        <p:spPr>
          <a:xfrm>
            <a:off x="4362450" y="24003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AE0FC1-314C-4F67-A015-9C4D86303807}"/>
              </a:ext>
            </a:extLst>
          </p:cNvPr>
          <p:cNvSpPr>
            <a:spLocks noGrp="1"/>
          </p:cNvSpPr>
          <p:nvPr/>
        </p:nvSpPr>
        <p:spPr>
          <a:xfrm>
            <a:off x="4362450" y="2724150"/>
            <a:ext cx="2324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即時需求熱度</a:t>
            </a:r>
          </a:p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時段與地區切片</a:t>
            </a:r>
          </a:p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轉換漏斗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E82E4C-775D-4F9A-B1BC-7C390C53A0E6}"/>
              </a:ext>
            </a:extLst>
          </p:cNvPr>
          <p:cNvSpPr>
            <a:spLocks noGrp="1"/>
          </p:cNvSpPr>
          <p:nvPr/>
        </p:nvSpPr>
        <p:spPr>
          <a:xfrm>
            <a:off x="7524750" y="2247900"/>
            <a:ext cx="2667000" cy="1238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EE9390-5096-4727-B15D-E88323285066}"/>
              </a:ext>
            </a:extLst>
          </p:cNvPr>
          <p:cNvSpPr>
            <a:spLocks noGrp="1"/>
          </p:cNvSpPr>
          <p:nvPr/>
        </p:nvSpPr>
        <p:spPr>
          <a:xfrm>
            <a:off x="7524750" y="2247900"/>
            <a:ext cx="66675" cy="123825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6594ED-7CD8-468B-A4B2-799AC1FE2109}"/>
              </a:ext>
            </a:extLst>
          </p:cNvPr>
          <p:cNvSpPr>
            <a:spLocks noGrp="1"/>
          </p:cNvSpPr>
          <p:nvPr/>
        </p:nvSpPr>
        <p:spPr>
          <a:xfrm>
            <a:off x="7715250" y="24003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9E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717E6B-4BD7-4E9C-9786-04F9284656BD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2324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接店家菜單</a:t>
            </a:r>
          </a:p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自動匹配分類</a:t>
            </a:r>
          </a:p>
          <a:p>
            <a:pPr algn="l">
              <a:defRPr sz="1275" b="0">
                <a:solidFill>
                  <a:srgbClr val="E7D6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6C1"/>
                </a:solidFill>
                <a:latin typeface="Aptos"/>
                <a:ea typeface="Aptos"/>
                <a:cs typeface="Aptos"/>
              </a:rPr>
              <a:t>回傳推薦品項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CC3B9A-B701-4C7E-912C-A63496114926}"/>
              </a:ext>
            </a:extLst>
          </p:cNvPr>
          <p:cNvSpPr>
            <a:spLocks noGrp="1"/>
          </p:cNvSpPr>
          <p:nvPr/>
        </p:nvSpPr>
        <p:spPr>
          <a:xfrm>
            <a:off x="1619250" y="4324350"/>
            <a:ext cx="2381250" cy="952500"/>
          </a:xfrm>
          <a:prstGeom prst="rect">
            <a:avLst/>
          </a:prstGeom>
          <a:solidFill>
            <a:srgbClr val="263241"/>
          </a:solidFill>
          <a:ln w="9525">
            <a:solidFill>
              <a:srgbClr val="3D4B5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6CB4C1-D879-47BF-9571-4E1E209F1527}"/>
              </a:ext>
            </a:extLst>
          </p:cNvPr>
          <p:cNvSpPr>
            <a:spLocks noGrp="1"/>
          </p:cNvSpPr>
          <p:nvPr/>
        </p:nvSpPr>
        <p:spPr>
          <a:xfrm>
            <a:off x="1981200" y="4933950"/>
            <a:ext cx="209550" cy="342900"/>
          </a:xfrm>
          <a:prstGeom prst="rect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9E9640-C0E0-4EEE-9B30-B86D46F3B0F2}"/>
              </a:ext>
            </a:extLst>
          </p:cNvPr>
          <p:cNvSpPr>
            <a:spLocks noGrp="1"/>
          </p:cNvSpPr>
          <p:nvPr/>
        </p:nvSpPr>
        <p:spPr>
          <a:xfrm>
            <a:off x="2362200" y="4629150"/>
            <a:ext cx="209550" cy="647700"/>
          </a:xfrm>
          <a:prstGeom prst="rect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482097-C870-4EF0-A2D5-881BD0AFC5CC}"/>
              </a:ext>
            </a:extLst>
          </p:cNvPr>
          <p:cNvSpPr>
            <a:spLocks noGrp="1"/>
          </p:cNvSpPr>
          <p:nvPr/>
        </p:nvSpPr>
        <p:spPr>
          <a:xfrm>
            <a:off x="2743200" y="4819650"/>
            <a:ext cx="209550" cy="457200"/>
          </a:xfrm>
          <a:prstGeom prst="rect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6E5227-7F56-4552-9F7B-F5FC70938E9F}"/>
              </a:ext>
            </a:extLst>
          </p:cNvPr>
          <p:cNvSpPr>
            <a:spLocks noGrp="1"/>
          </p:cNvSpPr>
          <p:nvPr/>
        </p:nvSpPr>
        <p:spPr>
          <a:xfrm>
            <a:off x="3124200" y="4572000"/>
            <a:ext cx="209550" cy="7048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FE9FE8-75D2-4B6E-B8B0-AD4740C0C764}"/>
              </a:ext>
            </a:extLst>
          </p:cNvPr>
          <p:cNvSpPr>
            <a:spLocks noGrp="1"/>
          </p:cNvSpPr>
          <p:nvPr/>
        </p:nvSpPr>
        <p:spPr>
          <a:xfrm>
            <a:off x="2000250" y="5257800"/>
            <a:ext cx="1619250" cy="361950"/>
          </a:xfrm>
          <a:prstGeom prst="rect">
            <a:avLst/>
          </a:prstGeom>
          <a:solidFill>
            <a:srgbClr val="111827"/>
          </a:solidFill>
          <a:ln w="9525">
            <a:solidFill>
              <a:srgbClr val="3D4B5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849841-803D-4616-93D6-0D9DFCC904C5}"/>
              </a:ext>
            </a:extLst>
          </p:cNvPr>
          <p:cNvSpPr>
            <a:spLocks noGrp="1"/>
          </p:cNvSpPr>
          <p:nvPr/>
        </p:nvSpPr>
        <p:spPr>
          <a:xfrm>
            <a:off x="2133600" y="53340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9EF"/>
                </a:solidFill>
                <a:latin typeface="Aptos"/>
                <a:ea typeface="Aptos"/>
                <a:cs typeface="Aptos"/>
              </a:rPr>
              <a:t>風格熱度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6DCBC0-DA4E-4BA1-B898-9DC5C908BBF3}"/>
              </a:ext>
            </a:extLst>
          </p:cNvPr>
          <p:cNvSpPr>
            <a:spLocks noGrp="1"/>
          </p:cNvSpPr>
          <p:nvPr/>
        </p:nvSpPr>
        <p:spPr>
          <a:xfrm>
            <a:off x="4857750" y="4324350"/>
            <a:ext cx="2381250" cy="952500"/>
          </a:xfrm>
          <a:prstGeom prst="rect">
            <a:avLst/>
          </a:prstGeom>
          <a:solidFill>
            <a:srgbClr val="263241"/>
          </a:solidFill>
          <a:ln w="9525">
            <a:solidFill>
              <a:srgbClr val="3D4B5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58A82BE7-041C-4DFF-8CED-290EC4DFC352}"/>
              </a:ext>
            </a:extLst>
          </p:cNvPr>
          <p:cNvSpPr>
            <a:spLocks noGrp="1"/>
          </p:cNvSpPr>
          <p:nvPr/>
        </p:nvSpPr>
        <p:spPr>
          <a:xfrm>
            <a:off x="5181600" y="4686300"/>
            <a:ext cx="457200" cy="457200"/>
          </a:xfrm>
          <a:prstGeom prst="ellipse">
            <a:avLst/>
          </a:prstGeom>
          <a:solidFill>
            <a:srgbClr val="2B7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3A6FD3EB-F710-43A6-AA59-6D15A624C965}"/>
              </a:ext>
            </a:extLst>
          </p:cNvPr>
          <p:cNvSpPr>
            <a:spLocks noGrp="1"/>
          </p:cNvSpPr>
          <p:nvPr/>
        </p:nvSpPr>
        <p:spPr>
          <a:xfrm>
            <a:off x="5753100" y="4514850"/>
            <a:ext cx="685800" cy="685800"/>
          </a:xfrm>
          <a:prstGeom prst="ellipse">
            <a:avLst/>
          </a:prstGeom>
          <a:solidFill>
            <a:srgbClr val="B85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31FF2C28-E3D9-4BAF-BDB4-96DF76EBF0D0}"/>
              </a:ext>
            </a:extLst>
          </p:cNvPr>
          <p:cNvSpPr>
            <a:spLocks noGrp="1"/>
          </p:cNvSpPr>
          <p:nvPr/>
        </p:nvSpPr>
        <p:spPr>
          <a:xfrm>
            <a:off x="6572250" y="4781550"/>
            <a:ext cx="304800" cy="304800"/>
          </a:xfrm>
          <a:prstGeom prst="ellipse">
            <a:avLst/>
          </a:prstGeom>
          <a:solidFill>
            <a:srgbClr val="D9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AC15E3-8992-4150-BAE6-485B4A17A938}"/>
              </a:ext>
            </a:extLst>
          </p:cNvPr>
          <p:cNvSpPr>
            <a:spLocks noGrp="1"/>
          </p:cNvSpPr>
          <p:nvPr/>
        </p:nvSpPr>
        <p:spPr>
          <a:xfrm>
            <a:off x="5257800" y="5257800"/>
            <a:ext cx="1619250" cy="361950"/>
          </a:xfrm>
          <a:prstGeom prst="rect">
            <a:avLst/>
          </a:prstGeom>
          <a:solidFill>
            <a:srgbClr val="111827"/>
          </a:solidFill>
          <a:ln w="9525">
            <a:solidFill>
              <a:srgbClr val="3D4B5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D1EA51B-D2CC-4C76-A57E-E51CD1D7FC3A}"/>
              </a:ext>
            </a:extLst>
          </p:cNvPr>
          <p:cNvSpPr>
            <a:spLocks noGrp="1"/>
          </p:cNvSpPr>
          <p:nvPr/>
        </p:nvSpPr>
        <p:spPr>
          <a:xfrm>
            <a:off x="5391150" y="53340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9EF"/>
                </a:solidFill>
                <a:latin typeface="Aptos"/>
                <a:ea typeface="Aptos"/>
                <a:cs typeface="Aptos"/>
              </a:rPr>
              <a:t>需求群組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97EC5D-787C-497D-9D01-088CE3C81C40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2381250" cy="952500"/>
          </a:xfrm>
          <a:prstGeom prst="rect">
            <a:avLst/>
          </a:prstGeom>
          <a:solidFill>
            <a:srgbClr val="263241"/>
          </a:solidFill>
          <a:ln w="9525">
            <a:solidFill>
              <a:srgbClr val="3D4B5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651F596-F0CE-4062-9FB7-ADFF3F996F4C}"/>
              </a:ext>
            </a:extLst>
          </p:cNvPr>
          <p:cNvSpPr>
            <a:spLocks noGrp="1"/>
          </p:cNvSpPr>
          <p:nvPr/>
        </p:nvSpPr>
        <p:spPr>
          <a:xfrm>
            <a:off x="8420100" y="4648200"/>
            <a:ext cx="1695450" cy="381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DAAD5F2-523F-4D39-BD87-609778BD04B5}"/>
              </a:ext>
            </a:extLst>
          </p:cNvPr>
          <p:cNvSpPr>
            <a:spLocks noGrp="1"/>
          </p:cNvSpPr>
          <p:nvPr/>
        </p:nvSpPr>
        <p:spPr>
          <a:xfrm>
            <a:off x="8420100" y="5029200"/>
            <a:ext cx="1695450" cy="381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0C84936-6036-4A3A-B1E8-4E7DA4E7ECA3}"/>
              </a:ext>
            </a:extLst>
          </p:cNvPr>
          <p:cNvSpPr>
            <a:spLocks noGrp="1"/>
          </p:cNvSpPr>
          <p:nvPr/>
        </p:nvSpPr>
        <p:spPr>
          <a:xfrm>
            <a:off x="8667750" y="4495800"/>
            <a:ext cx="38100" cy="7239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755084F-7E6A-4E4B-BB39-69679AAF0D5C}"/>
              </a:ext>
            </a:extLst>
          </p:cNvPr>
          <p:cNvSpPr>
            <a:spLocks noGrp="1"/>
          </p:cNvSpPr>
          <p:nvPr/>
        </p:nvSpPr>
        <p:spPr>
          <a:xfrm>
            <a:off x="9201150" y="4495800"/>
            <a:ext cx="38100" cy="7239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DC3FCF-5E30-4626-A15C-1532F5C254B0}"/>
              </a:ext>
            </a:extLst>
          </p:cNvPr>
          <p:cNvSpPr>
            <a:spLocks noGrp="1"/>
          </p:cNvSpPr>
          <p:nvPr/>
        </p:nvSpPr>
        <p:spPr>
          <a:xfrm>
            <a:off x="9734550" y="4495800"/>
            <a:ext cx="38100" cy="723900"/>
          </a:xfrm>
          <a:prstGeom prst="rect">
            <a:avLst/>
          </a:prstGeom>
          <a:solidFill>
            <a:srgbClr val="E1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620E35A-8CCB-438C-A387-6461857EB934}"/>
              </a:ext>
            </a:extLst>
          </p:cNvPr>
          <p:cNvSpPr>
            <a:spLocks noGrp="1"/>
          </p:cNvSpPr>
          <p:nvPr/>
        </p:nvSpPr>
        <p:spPr>
          <a:xfrm>
            <a:off x="8496300" y="5257800"/>
            <a:ext cx="1619250" cy="361950"/>
          </a:xfrm>
          <a:prstGeom prst="rect">
            <a:avLst/>
          </a:prstGeom>
          <a:solidFill>
            <a:srgbClr val="111827"/>
          </a:solidFill>
          <a:ln w="9525">
            <a:solidFill>
              <a:srgbClr val="3D4B5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40E2141-1725-4D9F-8C36-A615F6AA58EE}"/>
              </a:ext>
            </a:extLst>
          </p:cNvPr>
          <p:cNvSpPr>
            <a:spLocks noGrp="1"/>
          </p:cNvSpPr>
          <p:nvPr/>
        </p:nvSpPr>
        <p:spPr>
          <a:xfrm>
            <a:off x="8629650" y="53340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FF9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9EF"/>
                </a:solidFill>
                <a:latin typeface="Aptos"/>
                <a:ea typeface="Aptos"/>
                <a:cs typeface="Aptos"/>
              </a:rPr>
              <a:t>地區 / 時段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CFFDE53-E96A-47DF-A988-2B6B73DEE6E2}"/>
              </a:ext>
            </a:extLst>
          </p:cNvPr>
          <p:cNvSpPr>
            <a:spLocks noGrp="1"/>
          </p:cNvSpPr>
          <p:nvPr/>
        </p:nvSpPr>
        <p:spPr>
          <a:xfrm>
            <a:off x="1428750" y="5638800"/>
            <a:ext cx="8858250" cy="361950"/>
          </a:xfrm>
          <a:prstGeom prst="rect">
            <a:avLst/>
          </a:prstGeom>
          <a:solidFill>
            <a:srgbClr val="FFF9EF"/>
          </a:solidFill>
          <a:ln w="9525">
            <a:solidFill>
              <a:srgbClr val="EAD7B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1D550D2-14DE-4A58-B2C5-F51B5D2E3325}"/>
              </a:ext>
            </a:extLst>
          </p:cNvPr>
          <p:cNvSpPr>
            <a:spLocks noGrp="1"/>
          </p:cNvSpPr>
          <p:nvPr/>
        </p:nvSpPr>
        <p:spPr>
          <a:xfrm>
            <a:off x="1562100" y="5715000"/>
            <a:ext cx="859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收尾句：拉麵介紹建立背景，公平分類建立信任，結果使用創造體驗，商家分析創造商業價值。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E499F71-95FC-4748-9CDC-26836530D9D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828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DBBA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DBBA8"/>
                </a:solidFill>
                <a:latin typeface="Aptos"/>
                <a:ea typeface="Aptos"/>
                <a:cs typeface="Aptos"/>
              </a:rPr>
              <a:t>這張是商業模式示意圖，所有圖表皆為可編輯圖型。</a:t>
            </a:r>
          </a:p>
        </p:txBody>
      </p:sp>
    </p:spTree>
    <p:extLst>
      <p:ext uri="{BB962C8B-B14F-4D97-AF65-F5344CB8AC3E}">
        <p14:creationId xmlns:p14="http://schemas.microsoft.com/office/powerpoint/2010/main" val="7762145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Macintosh PowerPoint</Application>
  <DocSecurity>0</DocSecurity>
  <PresentationFormat>寬螢幕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Anson Hui</cp:lastModifiedBy>
  <cp:revision>1</cp:revision>
  <dcterms:created xsi:type="dcterms:W3CDTF">2026-06-03T07:43:54Z</dcterms:created>
  <dcterms:modified xsi:type="dcterms:W3CDTF">2026-06-03T07:47:13Z</dcterms:modified>
</cp:coreProperties>
</file>